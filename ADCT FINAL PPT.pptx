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10D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615680" y="683259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80">
                <a:moveTo>
                  <a:pt x="20827" y="0"/>
                </a:moveTo>
                <a:lnTo>
                  <a:pt x="29356" y="1537"/>
                </a:lnTo>
                <a:lnTo>
                  <a:pt x="36480" y="5826"/>
                </a:lnTo>
                <a:lnTo>
                  <a:pt x="41366" y="12376"/>
                </a:lnTo>
                <a:lnTo>
                  <a:pt x="43179" y="20700"/>
                </a:lnTo>
                <a:lnTo>
                  <a:pt x="43179" y="454278"/>
                </a:lnTo>
                <a:lnTo>
                  <a:pt x="41366" y="461853"/>
                </a:lnTo>
                <a:lnTo>
                  <a:pt x="36480" y="468487"/>
                </a:lnTo>
                <a:lnTo>
                  <a:pt x="29356" y="473192"/>
                </a:lnTo>
                <a:lnTo>
                  <a:pt x="20827" y="474979"/>
                </a:lnTo>
                <a:lnTo>
                  <a:pt x="13180" y="473192"/>
                </a:lnTo>
                <a:lnTo>
                  <a:pt x="6508" y="468487"/>
                </a:lnTo>
                <a:lnTo>
                  <a:pt x="1789" y="461853"/>
                </a:lnTo>
                <a:lnTo>
                  <a:pt x="0" y="454278"/>
                </a:lnTo>
                <a:lnTo>
                  <a:pt x="0" y="20700"/>
                </a:lnTo>
                <a:lnTo>
                  <a:pt x="1789" y="12376"/>
                </a:lnTo>
                <a:lnTo>
                  <a:pt x="6508" y="5826"/>
                </a:lnTo>
                <a:lnTo>
                  <a:pt x="13180" y="1537"/>
                </a:lnTo>
                <a:lnTo>
                  <a:pt x="20827" y="0"/>
                </a:lnTo>
                <a:close/>
              </a:path>
            </a:pathLst>
          </a:custGeom>
          <a:ln w="9524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813800" y="444500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80">
                <a:moveTo>
                  <a:pt x="20827" y="0"/>
                </a:moveTo>
                <a:lnTo>
                  <a:pt x="29356" y="1537"/>
                </a:lnTo>
                <a:lnTo>
                  <a:pt x="36480" y="5826"/>
                </a:lnTo>
                <a:lnTo>
                  <a:pt x="41366" y="12376"/>
                </a:lnTo>
                <a:lnTo>
                  <a:pt x="43179" y="20700"/>
                </a:lnTo>
                <a:lnTo>
                  <a:pt x="43179" y="454278"/>
                </a:lnTo>
                <a:lnTo>
                  <a:pt x="41366" y="461853"/>
                </a:lnTo>
                <a:lnTo>
                  <a:pt x="36480" y="468487"/>
                </a:lnTo>
                <a:lnTo>
                  <a:pt x="29356" y="473192"/>
                </a:lnTo>
                <a:lnTo>
                  <a:pt x="20827" y="474979"/>
                </a:lnTo>
                <a:lnTo>
                  <a:pt x="13180" y="473192"/>
                </a:lnTo>
                <a:lnTo>
                  <a:pt x="6508" y="468487"/>
                </a:lnTo>
                <a:lnTo>
                  <a:pt x="1789" y="461853"/>
                </a:lnTo>
                <a:lnTo>
                  <a:pt x="0" y="454278"/>
                </a:lnTo>
                <a:lnTo>
                  <a:pt x="0" y="20700"/>
                </a:lnTo>
                <a:lnTo>
                  <a:pt x="1789" y="12376"/>
                </a:lnTo>
                <a:lnTo>
                  <a:pt x="6508" y="5826"/>
                </a:lnTo>
                <a:lnTo>
                  <a:pt x="13180" y="1537"/>
                </a:lnTo>
                <a:lnTo>
                  <a:pt x="20827" y="0"/>
                </a:lnTo>
                <a:close/>
              </a:path>
            </a:pathLst>
          </a:custGeom>
          <a:ln w="9524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87960" y="4274819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79">
                <a:moveTo>
                  <a:pt x="20789" y="0"/>
                </a:moveTo>
                <a:lnTo>
                  <a:pt x="29362" y="1545"/>
                </a:lnTo>
                <a:lnTo>
                  <a:pt x="36495" y="5851"/>
                </a:lnTo>
                <a:lnTo>
                  <a:pt x="41372" y="12419"/>
                </a:lnTo>
                <a:lnTo>
                  <a:pt x="43179" y="20751"/>
                </a:lnTo>
                <a:lnTo>
                  <a:pt x="43179" y="454228"/>
                </a:lnTo>
                <a:lnTo>
                  <a:pt x="41372" y="461827"/>
                </a:lnTo>
                <a:lnTo>
                  <a:pt x="36495" y="468453"/>
                </a:lnTo>
                <a:lnTo>
                  <a:pt x="29362" y="473139"/>
                </a:lnTo>
                <a:lnTo>
                  <a:pt x="20789" y="474916"/>
                </a:lnTo>
                <a:lnTo>
                  <a:pt x="13142" y="473139"/>
                </a:lnTo>
                <a:lnTo>
                  <a:pt x="6484" y="468453"/>
                </a:lnTo>
                <a:lnTo>
                  <a:pt x="1782" y="461827"/>
                </a:lnTo>
                <a:lnTo>
                  <a:pt x="0" y="454228"/>
                </a:lnTo>
                <a:lnTo>
                  <a:pt x="0" y="20751"/>
                </a:lnTo>
                <a:lnTo>
                  <a:pt x="1782" y="12419"/>
                </a:lnTo>
                <a:lnTo>
                  <a:pt x="6484" y="5851"/>
                </a:lnTo>
                <a:lnTo>
                  <a:pt x="13142" y="1545"/>
                </a:lnTo>
                <a:lnTo>
                  <a:pt x="20789" y="0"/>
                </a:lnTo>
                <a:close/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53060" y="4566920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79">
                <a:moveTo>
                  <a:pt x="20789" y="0"/>
                </a:moveTo>
                <a:lnTo>
                  <a:pt x="29362" y="1545"/>
                </a:lnTo>
                <a:lnTo>
                  <a:pt x="36495" y="5851"/>
                </a:lnTo>
                <a:lnTo>
                  <a:pt x="41372" y="12419"/>
                </a:lnTo>
                <a:lnTo>
                  <a:pt x="43179" y="20751"/>
                </a:lnTo>
                <a:lnTo>
                  <a:pt x="43179" y="454224"/>
                </a:lnTo>
                <a:lnTo>
                  <a:pt x="41372" y="461824"/>
                </a:lnTo>
                <a:lnTo>
                  <a:pt x="36495" y="468454"/>
                </a:lnTo>
                <a:lnTo>
                  <a:pt x="29362" y="473144"/>
                </a:lnTo>
                <a:lnTo>
                  <a:pt x="20789" y="474922"/>
                </a:lnTo>
                <a:lnTo>
                  <a:pt x="13142" y="473144"/>
                </a:lnTo>
                <a:lnTo>
                  <a:pt x="6484" y="468454"/>
                </a:lnTo>
                <a:lnTo>
                  <a:pt x="1782" y="461824"/>
                </a:lnTo>
                <a:lnTo>
                  <a:pt x="0" y="454224"/>
                </a:lnTo>
                <a:lnTo>
                  <a:pt x="0" y="20751"/>
                </a:lnTo>
                <a:lnTo>
                  <a:pt x="1782" y="12419"/>
                </a:lnTo>
                <a:lnTo>
                  <a:pt x="6484" y="5851"/>
                </a:lnTo>
                <a:lnTo>
                  <a:pt x="13142" y="1545"/>
                </a:lnTo>
                <a:lnTo>
                  <a:pt x="20789" y="0"/>
                </a:lnTo>
                <a:close/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519" y="2870200"/>
            <a:ext cx="40640" cy="441959"/>
          </a:xfrm>
          <a:custGeom>
            <a:avLst/>
            <a:gdLst/>
            <a:ahLst/>
            <a:cxnLst/>
            <a:rect l="l" t="t" r="r" b="b"/>
            <a:pathLst>
              <a:path w="40640" h="441960">
                <a:moveTo>
                  <a:pt x="20320" y="0"/>
                </a:moveTo>
                <a:lnTo>
                  <a:pt x="12580" y="1635"/>
                </a:lnTo>
                <a:lnTo>
                  <a:pt x="6102" y="6032"/>
                </a:lnTo>
                <a:lnTo>
                  <a:pt x="1653" y="12430"/>
                </a:lnTo>
                <a:lnTo>
                  <a:pt x="0" y="20066"/>
                </a:lnTo>
                <a:lnTo>
                  <a:pt x="0" y="421894"/>
                </a:lnTo>
                <a:lnTo>
                  <a:pt x="1653" y="429958"/>
                </a:lnTo>
                <a:lnTo>
                  <a:pt x="6102" y="436308"/>
                </a:lnTo>
                <a:lnTo>
                  <a:pt x="12580" y="440467"/>
                </a:lnTo>
                <a:lnTo>
                  <a:pt x="20320" y="441960"/>
                </a:lnTo>
                <a:lnTo>
                  <a:pt x="28471" y="440467"/>
                </a:lnTo>
                <a:lnTo>
                  <a:pt x="34890" y="436308"/>
                </a:lnTo>
                <a:lnTo>
                  <a:pt x="39093" y="429958"/>
                </a:lnTo>
                <a:lnTo>
                  <a:pt x="40601" y="421894"/>
                </a:lnTo>
                <a:lnTo>
                  <a:pt x="40601" y="20066"/>
                </a:lnTo>
                <a:lnTo>
                  <a:pt x="39093" y="12430"/>
                </a:lnTo>
                <a:lnTo>
                  <a:pt x="34890" y="6032"/>
                </a:lnTo>
                <a:lnTo>
                  <a:pt x="28471" y="1635"/>
                </a:lnTo>
                <a:lnTo>
                  <a:pt x="20320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59080" y="3644900"/>
            <a:ext cx="347980" cy="198120"/>
          </a:xfrm>
          <a:custGeom>
            <a:avLst/>
            <a:gdLst/>
            <a:ahLst/>
            <a:cxnLst/>
            <a:rect l="l" t="t" r="r" b="b"/>
            <a:pathLst>
              <a:path w="347980" h="198120">
                <a:moveTo>
                  <a:pt x="347903" y="197993"/>
                </a:moveTo>
                <a:lnTo>
                  <a:pt x="146735" y="0"/>
                </a:lnTo>
                <a:lnTo>
                  <a:pt x="0" y="0"/>
                </a:lnTo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880" y="3823017"/>
            <a:ext cx="187261" cy="184721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259080" y="3088640"/>
            <a:ext cx="477520" cy="2054860"/>
          </a:xfrm>
          <a:custGeom>
            <a:avLst/>
            <a:gdLst/>
            <a:ahLst/>
            <a:cxnLst/>
            <a:rect l="l" t="t" r="r" b="b"/>
            <a:pathLst>
              <a:path w="477520" h="2054860">
                <a:moveTo>
                  <a:pt x="0" y="0"/>
                </a:moveTo>
                <a:lnTo>
                  <a:pt x="0" y="916279"/>
                </a:lnTo>
                <a:lnTo>
                  <a:pt x="477520" y="1392643"/>
                </a:lnTo>
                <a:lnTo>
                  <a:pt x="477520" y="2054860"/>
                </a:lnTo>
              </a:path>
            </a:pathLst>
          </a:custGeom>
          <a:ln w="9524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737600" y="1381760"/>
            <a:ext cx="40640" cy="439420"/>
          </a:xfrm>
          <a:custGeom>
            <a:avLst/>
            <a:gdLst/>
            <a:ahLst/>
            <a:cxnLst/>
            <a:rect l="l" t="t" r="r" b="b"/>
            <a:pathLst>
              <a:path w="40640" h="439419">
                <a:moveTo>
                  <a:pt x="20320" y="0"/>
                </a:moveTo>
                <a:lnTo>
                  <a:pt x="12590" y="1633"/>
                </a:lnTo>
                <a:lnTo>
                  <a:pt x="6111" y="6016"/>
                </a:lnTo>
                <a:lnTo>
                  <a:pt x="1656" y="12376"/>
                </a:lnTo>
                <a:lnTo>
                  <a:pt x="0" y="19938"/>
                </a:lnTo>
                <a:lnTo>
                  <a:pt x="0" y="419480"/>
                </a:lnTo>
                <a:lnTo>
                  <a:pt x="1656" y="427472"/>
                </a:lnTo>
                <a:lnTo>
                  <a:pt x="6111" y="433784"/>
                </a:lnTo>
                <a:lnTo>
                  <a:pt x="12590" y="437929"/>
                </a:lnTo>
                <a:lnTo>
                  <a:pt x="20320" y="439419"/>
                </a:lnTo>
                <a:lnTo>
                  <a:pt x="28477" y="437929"/>
                </a:lnTo>
                <a:lnTo>
                  <a:pt x="34909" y="433784"/>
                </a:lnTo>
                <a:lnTo>
                  <a:pt x="39125" y="427472"/>
                </a:lnTo>
                <a:lnTo>
                  <a:pt x="40640" y="419480"/>
                </a:lnTo>
                <a:lnTo>
                  <a:pt x="40640" y="19938"/>
                </a:lnTo>
                <a:lnTo>
                  <a:pt x="39125" y="12376"/>
                </a:lnTo>
                <a:lnTo>
                  <a:pt x="34909" y="6016"/>
                </a:lnTo>
                <a:lnTo>
                  <a:pt x="28477" y="1633"/>
                </a:lnTo>
                <a:lnTo>
                  <a:pt x="20320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786161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779303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772445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765841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758983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5803972" y="0"/>
            <a:ext cx="3186430" cy="431800"/>
          </a:xfrm>
          <a:custGeom>
            <a:avLst/>
            <a:gdLst/>
            <a:ahLst/>
            <a:cxnLst/>
            <a:rect l="l" t="t" r="r" b="b"/>
            <a:pathLst>
              <a:path w="3186429" h="431800">
                <a:moveTo>
                  <a:pt x="0" y="0"/>
                </a:moveTo>
                <a:lnTo>
                  <a:pt x="432362" y="431800"/>
                </a:lnTo>
                <a:lnTo>
                  <a:pt x="2285292" y="431800"/>
                </a:lnTo>
                <a:lnTo>
                  <a:pt x="2502081" y="215264"/>
                </a:lnTo>
                <a:lnTo>
                  <a:pt x="2970584" y="215264"/>
                </a:lnTo>
                <a:lnTo>
                  <a:pt x="3186087" y="0"/>
                </a:lnTo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523240" y="617219"/>
            <a:ext cx="195580" cy="228600"/>
          </a:xfrm>
          <a:custGeom>
            <a:avLst/>
            <a:gdLst/>
            <a:ahLst/>
            <a:cxnLst/>
            <a:rect l="l" t="t" r="r" b="b"/>
            <a:pathLst>
              <a:path w="195579" h="228600">
                <a:moveTo>
                  <a:pt x="0" y="0"/>
                </a:moveTo>
                <a:lnTo>
                  <a:pt x="0" y="228600"/>
                </a:lnTo>
                <a:lnTo>
                  <a:pt x="195579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00C9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98830" y="511428"/>
            <a:ext cx="2757170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10D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615680" y="683259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80">
                <a:moveTo>
                  <a:pt x="20827" y="0"/>
                </a:moveTo>
                <a:lnTo>
                  <a:pt x="29356" y="1537"/>
                </a:lnTo>
                <a:lnTo>
                  <a:pt x="36480" y="5826"/>
                </a:lnTo>
                <a:lnTo>
                  <a:pt x="41366" y="12376"/>
                </a:lnTo>
                <a:lnTo>
                  <a:pt x="43179" y="20700"/>
                </a:lnTo>
                <a:lnTo>
                  <a:pt x="43179" y="454278"/>
                </a:lnTo>
                <a:lnTo>
                  <a:pt x="41366" y="461853"/>
                </a:lnTo>
                <a:lnTo>
                  <a:pt x="36480" y="468487"/>
                </a:lnTo>
                <a:lnTo>
                  <a:pt x="29356" y="473192"/>
                </a:lnTo>
                <a:lnTo>
                  <a:pt x="20827" y="474979"/>
                </a:lnTo>
                <a:lnTo>
                  <a:pt x="13180" y="473192"/>
                </a:lnTo>
                <a:lnTo>
                  <a:pt x="6508" y="468487"/>
                </a:lnTo>
                <a:lnTo>
                  <a:pt x="1789" y="461853"/>
                </a:lnTo>
                <a:lnTo>
                  <a:pt x="0" y="454278"/>
                </a:lnTo>
                <a:lnTo>
                  <a:pt x="0" y="20700"/>
                </a:lnTo>
                <a:lnTo>
                  <a:pt x="1789" y="12376"/>
                </a:lnTo>
                <a:lnTo>
                  <a:pt x="6508" y="5826"/>
                </a:lnTo>
                <a:lnTo>
                  <a:pt x="13180" y="1537"/>
                </a:lnTo>
                <a:lnTo>
                  <a:pt x="20827" y="0"/>
                </a:lnTo>
                <a:close/>
              </a:path>
            </a:pathLst>
          </a:custGeom>
          <a:ln w="9524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813800" y="444500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80">
                <a:moveTo>
                  <a:pt x="20827" y="0"/>
                </a:moveTo>
                <a:lnTo>
                  <a:pt x="29356" y="1537"/>
                </a:lnTo>
                <a:lnTo>
                  <a:pt x="36480" y="5826"/>
                </a:lnTo>
                <a:lnTo>
                  <a:pt x="41366" y="12376"/>
                </a:lnTo>
                <a:lnTo>
                  <a:pt x="43179" y="20700"/>
                </a:lnTo>
                <a:lnTo>
                  <a:pt x="43179" y="454278"/>
                </a:lnTo>
                <a:lnTo>
                  <a:pt x="41366" y="461853"/>
                </a:lnTo>
                <a:lnTo>
                  <a:pt x="36480" y="468487"/>
                </a:lnTo>
                <a:lnTo>
                  <a:pt x="29356" y="473192"/>
                </a:lnTo>
                <a:lnTo>
                  <a:pt x="20827" y="474979"/>
                </a:lnTo>
                <a:lnTo>
                  <a:pt x="13180" y="473192"/>
                </a:lnTo>
                <a:lnTo>
                  <a:pt x="6508" y="468487"/>
                </a:lnTo>
                <a:lnTo>
                  <a:pt x="1789" y="461853"/>
                </a:lnTo>
                <a:lnTo>
                  <a:pt x="0" y="454278"/>
                </a:lnTo>
                <a:lnTo>
                  <a:pt x="0" y="20700"/>
                </a:lnTo>
                <a:lnTo>
                  <a:pt x="1789" y="12376"/>
                </a:lnTo>
                <a:lnTo>
                  <a:pt x="6508" y="5826"/>
                </a:lnTo>
                <a:lnTo>
                  <a:pt x="13180" y="1537"/>
                </a:lnTo>
                <a:lnTo>
                  <a:pt x="20827" y="0"/>
                </a:lnTo>
                <a:close/>
              </a:path>
            </a:pathLst>
          </a:custGeom>
          <a:ln w="9524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87960" y="4274819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79">
                <a:moveTo>
                  <a:pt x="20789" y="0"/>
                </a:moveTo>
                <a:lnTo>
                  <a:pt x="29362" y="1545"/>
                </a:lnTo>
                <a:lnTo>
                  <a:pt x="36495" y="5851"/>
                </a:lnTo>
                <a:lnTo>
                  <a:pt x="41372" y="12419"/>
                </a:lnTo>
                <a:lnTo>
                  <a:pt x="43179" y="20751"/>
                </a:lnTo>
                <a:lnTo>
                  <a:pt x="43179" y="454228"/>
                </a:lnTo>
                <a:lnTo>
                  <a:pt x="41372" y="461827"/>
                </a:lnTo>
                <a:lnTo>
                  <a:pt x="36495" y="468453"/>
                </a:lnTo>
                <a:lnTo>
                  <a:pt x="29362" y="473139"/>
                </a:lnTo>
                <a:lnTo>
                  <a:pt x="20789" y="474916"/>
                </a:lnTo>
                <a:lnTo>
                  <a:pt x="13142" y="473139"/>
                </a:lnTo>
                <a:lnTo>
                  <a:pt x="6484" y="468453"/>
                </a:lnTo>
                <a:lnTo>
                  <a:pt x="1782" y="461827"/>
                </a:lnTo>
                <a:lnTo>
                  <a:pt x="0" y="454228"/>
                </a:lnTo>
                <a:lnTo>
                  <a:pt x="0" y="20751"/>
                </a:lnTo>
                <a:lnTo>
                  <a:pt x="1782" y="12419"/>
                </a:lnTo>
                <a:lnTo>
                  <a:pt x="6484" y="5851"/>
                </a:lnTo>
                <a:lnTo>
                  <a:pt x="13142" y="1545"/>
                </a:lnTo>
                <a:lnTo>
                  <a:pt x="20789" y="0"/>
                </a:lnTo>
                <a:close/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53060" y="4566920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79">
                <a:moveTo>
                  <a:pt x="20789" y="0"/>
                </a:moveTo>
                <a:lnTo>
                  <a:pt x="29362" y="1545"/>
                </a:lnTo>
                <a:lnTo>
                  <a:pt x="36495" y="5851"/>
                </a:lnTo>
                <a:lnTo>
                  <a:pt x="41372" y="12419"/>
                </a:lnTo>
                <a:lnTo>
                  <a:pt x="43179" y="20751"/>
                </a:lnTo>
                <a:lnTo>
                  <a:pt x="43179" y="454224"/>
                </a:lnTo>
                <a:lnTo>
                  <a:pt x="41372" y="461824"/>
                </a:lnTo>
                <a:lnTo>
                  <a:pt x="36495" y="468454"/>
                </a:lnTo>
                <a:lnTo>
                  <a:pt x="29362" y="473144"/>
                </a:lnTo>
                <a:lnTo>
                  <a:pt x="20789" y="474922"/>
                </a:lnTo>
                <a:lnTo>
                  <a:pt x="13142" y="473144"/>
                </a:lnTo>
                <a:lnTo>
                  <a:pt x="6484" y="468454"/>
                </a:lnTo>
                <a:lnTo>
                  <a:pt x="1782" y="461824"/>
                </a:lnTo>
                <a:lnTo>
                  <a:pt x="0" y="454224"/>
                </a:lnTo>
                <a:lnTo>
                  <a:pt x="0" y="20751"/>
                </a:lnTo>
                <a:lnTo>
                  <a:pt x="1782" y="12419"/>
                </a:lnTo>
                <a:lnTo>
                  <a:pt x="6484" y="5851"/>
                </a:lnTo>
                <a:lnTo>
                  <a:pt x="13142" y="1545"/>
                </a:lnTo>
                <a:lnTo>
                  <a:pt x="20789" y="0"/>
                </a:lnTo>
                <a:close/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519" y="2870200"/>
            <a:ext cx="40640" cy="441959"/>
          </a:xfrm>
          <a:custGeom>
            <a:avLst/>
            <a:gdLst/>
            <a:ahLst/>
            <a:cxnLst/>
            <a:rect l="l" t="t" r="r" b="b"/>
            <a:pathLst>
              <a:path w="40640" h="441960">
                <a:moveTo>
                  <a:pt x="20320" y="0"/>
                </a:moveTo>
                <a:lnTo>
                  <a:pt x="12580" y="1635"/>
                </a:lnTo>
                <a:lnTo>
                  <a:pt x="6102" y="6032"/>
                </a:lnTo>
                <a:lnTo>
                  <a:pt x="1653" y="12430"/>
                </a:lnTo>
                <a:lnTo>
                  <a:pt x="0" y="20066"/>
                </a:lnTo>
                <a:lnTo>
                  <a:pt x="0" y="421894"/>
                </a:lnTo>
                <a:lnTo>
                  <a:pt x="1653" y="429958"/>
                </a:lnTo>
                <a:lnTo>
                  <a:pt x="6102" y="436308"/>
                </a:lnTo>
                <a:lnTo>
                  <a:pt x="12580" y="440467"/>
                </a:lnTo>
                <a:lnTo>
                  <a:pt x="20320" y="441960"/>
                </a:lnTo>
                <a:lnTo>
                  <a:pt x="28471" y="440467"/>
                </a:lnTo>
                <a:lnTo>
                  <a:pt x="34890" y="436308"/>
                </a:lnTo>
                <a:lnTo>
                  <a:pt x="39093" y="429958"/>
                </a:lnTo>
                <a:lnTo>
                  <a:pt x="40601" y="421894"/>
                </a:lnTo>
                <a:lnTo>
                  <a:pt x="40601" y="20066"/>
                </a:lnTo>
                <a:lnTo>
                  <a:pt x="39093" y="12430"/>
                </a:lnTo>
                <a:lnTo>
                  <a:pt x="34890" y="6032"/>
                </a:lnTo>
                <a:lnTo>
                  <a:pt x="28471" y="1635"/>
                </a:lnTo>
                <a:lnTo>
                  <a:pt x="20320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59080" y="3644900"/>
            <a:ext cx="347980" cy="198120"/>
          </a:xfrm>
          <a:custGeom>
            <a:avLst/>
            <a:gdLst/>
            <a:ahLst/>
            <a:cxnLst/>
            <a:rect l="l" t="t" r="r" b="b"/>
            <a:pathLst>
              <a:path w="347980" h="198120">
                <a:moveTo>
                  <a:pt x="347903" y="197993"/>
                </a:moveTo>
                <a:lnTo>
                  <a:pt x="146735" y="0"/>
                </a:lnTo>
                <a:lnTo>
                  <a:pt x="0" y="0"/>
                </a:lnTo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880" y="3823017"/>
            <a:ext cx="187261" cy="184721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259080" y="3088640"/>
            <a:ext cx="477520" cy="2054860"/>
          </a:xfrm>
          <a:custGeom>
            <a:avLst/>
            <a:gdLst/>
            <a:ahLst/>
            <a:cxnLst/>
            <a:rect l="l" t="t" r="r" b="b"/>
            <a:pathLst>
              <a:path w="477520" h="2054860">
                <a:moveTo>
                  <a:pt x="0" y="0"/>
                </a:moveTo>
                <a:lnTo>
                  <a:pt x="0" y="916279"/>
                </a:lnTo>
                <a:lnTo>
                  <a:pt x="477520" y="1392643"/>
                </a:lnTo>
                <a:lnTo>
                  <a:pt x="477520" y="2054860"/>
                </a:lnTo>
              </a:path>
            </a:pathLst>
          </a:custGeom>
          <a:ln w="9524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737600" y="1381760"/>
            <a:ext cx="40640" cy="439420"/>
          </a:xfrm>
          <a:custGeom>
            <a:avLst/>
            <a:gdLst/>
            <a:ahLst/>
            <a:cxnLst/>
            <a:rect l="l" t="t" r="r" b="b"/>
            <a:pathLst>
              <a:path w="40640" h="439419">
                <a:moveTo>
                  <a:pt x="20320" y="0"/>
                </a:moveTo>
                <a:lnTo>
                  <a:pt x="12590" y="1633"/>
                </a:lnTo>
                <a:lnTo>
                  <a:pt x="6111" y="6016"/>
                </a:lnTo>
                <a:lnTo>
                  <a:pt x="1656" y="12376"/>
                </a:lnTo>
                <a:lnTo>
                  <a:pt x="0" y="19938"/>
                </a:lnTo>
                <a:lnTo>
                  <a:pt x="0" y="419480"/>
                </a:lnTo>
                <a:lnTo>
                  <a:pt x="1656" y="427472"/>
                </a:lnTo>
                <a:lnTo>
                  <a:pt x="6111" y="433784"/>
                </a:lnTo>
                <a:lnTo>
                  <a:pt x="12590" y="437929"/>
                </a:lnTo>
                <a:lnTo>
                  <a:pt x="20320" y="439419"/>
                </a:lnTo>
                <a:lnTo>
                  <a:pt x="28477" y="437929"/>
                </a:lnTo>
                <a:lnTo>
                  <a:pt x="34909" y="433784"/>
                </a:lnTo>
                <a:lnTo>
                  <a:pt x="39125" y="427472"/>
                </a:lnTo>
                <a:lnTo>
                  <a:pt x="40640" y="419480"/>
                </a:lnTo>
                <a:lnTo>
                  <a:pt x="40640" y="19938"/>
                </a:lnTo>
                <a:lnTo>
                  <a:pt x="39125" y="12376"/>
                </a:lnTo>
                <a:lnTo>
                  <a:pt x="34909" y="6016"/>
                </a:lnTo>
                <a:lnTo>
                  <a:pt x="28477" y="1633"/>
                </a:lnTo>
                <a:lnTo>
                  <a:pt x="20320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786161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779303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772445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765841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758983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5803972" y="0"/>
            <a:ext cx="3186430" cy="431800"/>
          </a:xfrm>
          <a:custGeom>
            <a:avLst/>
            <a:gdLst/>
            <a:ahLst/>
            <a:cxnLst/>
            <a:rect l="l" t="t" r="r" b="b"/>
            <a:pathLst>
              <a:path w="3186429" h="431800">
                <a:moveTo>
                  <a:pt x="0" y="0"/>
                </a:moveTo>
                <a:lnTo>
                  <a:pt x="432362" y="431800"/>
                </a:lnTo>
                <a:lnTo>
                  <a:pt x="2285292" y="431800"/>
                </a:lnTo>
                <a:lnTo>
                  <a:pt x="2502081" y="215264"/>
                </a:lnTo>
                <a:lnTo>
                  <a:pt x="2970584" y="215264"/>
                </a:lnTo>
                <a:lnTo>
                  <a:pt x="3186087" y="0"/>
                </a:lnTo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523240" y="617219"/>
            <a:ext cx="195580" cy="228600"/>
          </a:xfrm>
          <a:custGeom>
            <a:avLst/>
            <a:gdLst/>
            <a:ahLst/>
            <a:cxnLst/>
            <a:rect l="l" t="t" r="r" b="b"/>
            <a:pathLst>
              <a:path w="195579" h="228600">
                <a:moveTo>
                  <a:pt x="0" y="0"/>
                </a:moveTo>
                <a:lnTo>
                  <a:pt x="0" y="228600"/>
                </a:lnTo>
                <a:lnTo>
                  <a:pt x="195579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00C9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10D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615680" y="2981960"/>
            <a:ext cx="43180" cy="477520"/>
          </a:xfrm>
          <a:custGeom>
            <a:avLst/>
            <a:gdLst/>
            <a:ahLst/>
            <a:cxnLst/>
            <a:rect l="l" t="t" r="r" b="b"/>
            <a:pathLst>
              <a:path w="43179" h="477520">
                <a:moveTo>
                  <a:pt x="20827" y="0"/>
                </a:moveTo>
                <a:lnTo>
                  <a:pt x="29356" y="1557"/>
                </a:lnTo>
                <a:lnTo>
                  <a:pt x="36480" y="5889"/>
                </a:lnTo>
                <a:lnTo>
                  <a:pt x="41366" y="12483"/>
                </a:lnTo>
                <a:lnTo>
                  <a:pt x="43179" y="20827"/>
                </a:lnTo>
                <a:lnTo>
                  <a:pt x="43179" y="456691"/>
                </a:lnTo>
                <a:lnTo>
                  <a:pt x="41366" y="464339"/>
                </a:lnTo>
                <a:lnTo>
                  <a:pt x="36480" y="471011"/>
                </a:lnTo>
                <a:lnTo>
                  <a:pt x="29356" y="475730"/>
                </a:lnTo>
                <a:lnTo>
                  <a:pt x="20827" y="477519"/>
                </a:lnTo>
                <a:lnTo>
                  <a:pt x="13180" y="475730"/>
                </a:lnTo>
                <a:lnTo>
                  <a:pt x="6508" y="471011"/>
                </a:lnTo>
                <a:lnTo>
                  <a:pt x="1789" y="464339"/>
                </a:lnTo>
                <a:lnTo>
                  <a:pt x="0" y="456691"/>
                </a:lnTo>
                <a:lnTo>
                  <a:pt x="0" y="20827"/>
                </a:lnTo>
                <a:lnTo>
                  <a:pt x="1789" y="12483"/>
                </a:lnTo>
                <a:lnTo>
                  <a:pt x="6508" y="5889"/>
                </a:lnTo>
                <a:lnTo>
                  <a:pt x="13180" y="1557"/>
                </a:lnTo>
                <a:lnTo>
                  <a:pt x="20827" y="0"/>
                </a:lnTo>
                <a:close/>
              </a:path>
            </a:pathLst>
          </a:custGeom>
          <a:ln w="9524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813800" y="2438400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80">
                <a:moveTo>
                  <a:pt x="20827" y="0"/>
                </a:moveTo>
                <a:lnTo>
                  <a:pt x="29356" y="1537"/>
                </a:lnTo>
                <a:lnTo>
                  <a:pt x="36480" y="5826"/>
                </a:lnTo>
                <a:lnTo>
                  <a:pt x="41366" y="12376"/>
                </a:lnTo>
                <a:lnTo>
                  <a:pt x="43179" y="20700"/>
                </a:lnTo>
                <a:lnTo>
                  <a:pt x="43179" y="454279"/>
                </a:lnTo>
                <a:lnTo>
                  <a:pt x="41366" y="461853"/>
                </a:lnTo>
                <a:lnTo>
                  <a:pt x="36480" y="468487"/>
                </a:lnTo>
                <a:lnTo>
                  <a:pt x="29356" y="473192"/>
                </a:lnTo>
                <a:lnTo>
                  <a:pt x="20827" y="474980"/>
                </a:lnTo>
                <a:lnTo>
                  <a:pt x="13180" y="473192"/>
                </a:lnTo>
                <a:lnTo>
                  <a:pt x="6508" y="468487"/>
                </a:lnTo>
                <a:lnTo>
                  <a:pt x="1789" y="461853"/>
                </a:lnTo>
                <a:lnTo>
                  <a:pt x="0" y="454279"/>
                </a:lnTo>
                <a:lnTo>
                  <a:pt x="0" y="20700"/>
                </a:lnTo>
                <a:lnTo>
                  <a:pt x="1789" y="12376"/>
                </a:lnTo>
                <a:lnTo>
                  <a:pt x="6508" y="5826"/>
                </a:lnTo>
                <a:lnTo>
                  <a:pt x="13180" y="1537"/>
                </a:lnTo>
                <a:lnTo>
                  <a:pt x="20827" y="0"/>
                </a:lnTo>
                <a:close/>
              </a:path>
            </a:pathLst>
          </a:custGeom>
          <a:ln w="9524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87960" y="2981960"/>
            <a:ext cx="43180" cy="477520"/>
          </a:xfrm>
          <a:custGeom>
            <a:avLst/>
            <a:gdLst/>
            <a:ahLst/>
            <a:cxnLst/>
            <a:rect l="l" t="t" r="r" b="b"/>
            <a:pathLst>
              <a:path w="43179" h="477520">
                <a:moveTo>
                  <a:pt x="20789" y="0"/>
                </a:moveTo>
                <a:lnTo>
                  <a:pt x="29362" y="1557"/>
                </a:lnTo>
                <a:lnTo>
                  <a:pt x="36495" y="5889"/>
                </a:lnTo>
                <a:lnTo>
                  <a:pt x="41372" y="12483"/>
                </a:lnTo>
                <a:lnTo>
                  <a:pt x="43179" y="20827"/>
                </a:lnTo>
                <a:lnTo>
                  <a:pt x="43179" y="456691"/>
                </a:lnTo>
                <a:lnTo>
                  <a:pt x="41372" y="464339"/>
                </a:lnTo>
                <a:lnTo>
                  <a:pt x="36495" y="471011"/>
                </a:lnTo>
                <a:lnTo>
                  <a:pt x="29362" y="475730"/>
                </a:lnTo>
                <a:lnTo>
                  <a:pt x="20789" y="477519"/>
                </a:lnTo>
                <a:lnTo>
                  <a:pt x="13142" y="475730"/>
                </a:lnTo>
                <a:lnTo>
                  <a:pt x="6484" y="471011"/>
                </a:lnTo>
                <a:lnTo>
                  <a:pt x="1782" y="464339"/>
                </a:lnTo>
                <a:lnTo>
                  <a:pt x="0" y="456691"/>
                </a:lnTo>
                <a:lnTo>
                  <a:pt x="0" y="20827"/>
                </a:lnTo>
                <a:lnTo>
                  <a:pt x="1782" y="12483"/>
                </a:lnTo>
                <a:lnTo>
                  <a:pt x="6484" y="5889"/>
                </a:lnTo>
                <a:lnTo>
                  <a:pt x="13142" y="1557"/>
                </a:lnTo>
                <a:lnTo>
                  <a:pt x="20789" y="0"/>
                </a:lnTo>
                <a:close/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53059" y="3274059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79">
                <a:moveTo>
                  <a:pt x="20789" y="0"/>
                </a:moveTo>
                <a:lnTo>
                  <a:pt x="29362" y="1537"/>
                </a:lnTo>
                <a:lnTo>
                  <a:pt x="36495" y="5826"/>
                </a:lnTo>
                <a:lnTo>
                  <a:pt x="41372" y="12376"/>
                </a:lnTo>
                <a:lnTo>
                  <a:pt x="43179" y="20700"/>
                </a:lnTo>
                <a:lnTo>
                  <a:pt x="43179" y="454278"/>
                </a:lnTo>
                <a:lnTo>
                  <a:pt x="41372" y="461853"/>
                </a:lnTo>
                <a:lnTo>
                  <a:pt x="36495" y="468487"/>
                </a:lnTo>
                <a:lnTo>
                  <a:pt x="29362" y="473192"/>
                </a:lnTo>
                <a:lnTo>
                  <a:pt x="20789" y="474979"/>
                </a:lnTo>
                <a:lnTo>
                  <a:pt x="13142" y="473192"/>
                </a:lnTo>
                <a:lnTo>
                  <a:pt x="6484" y="468487"/>
                </a:lnTo>
                <a:lnTo>
                  <a:pt x="1782" y="461853"/>
                </a:lnTo>
                <a:lnTo>
                  <a:pt x="0" y="454278"/>
                </a:lnTo>
                <a:lnTo>
                  <a:pt x="0" y="20700"/>
                </a:lnTo>
                <a:lnTo>
                  <a:pt x="1782" y="12376"/>
                </a:lnTo>
                <a:lnTo>
                  <a:pt x="6484" y="5826"/>
                </a:lnTo>
                <a:lnTo>
                  <a:pt x="13142" y="1537"/>
                </a:lnTo>
                <a:lnTo>
                  <a:pt x="20789" y="0"/>
                </a:lnTo>
                <a:close/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0"/>
            <a:ext cx="337820" cy="1493520"/>
          </a:xfrm>
          <a:custGeom>
            <a:avLst/>
            <a:gdLst/>
            <a:ahLst/>
            <a:cxnLst/>
            <a:rect l="l" t="t" r="r" b="b"/>
            <a:pathLst>
              <a:path w="337820" h="1493520">
                <a:moveTo>
                  <a:pt x="337820" y="0"/>
                </a:moveTo>
                <a:lnTo>
                  <a:pt x="337820" y="1155191"/>
                </a:lnTo>
                <a:lnTo>
                  <a:pt x="0" y="1493242"/>
                </a:lnTo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0480" y="1468119"/>
            <a:ext cx="345440" cy="198120"/>
          </a:xfrm>
          <a:custGeom>
            <a:avLst/>
            <a:gdLst/>
            <a:ahLst/>
            <a:cxnLst/>
            <a:rect l="l" t="t" r="r" b="b"/>
            <a:pathLst>
              <a:path w="345440" h="198119">
                <a:moveTo>
                  <a:pt x="345363" y="197992"/>
                </a:moveTo>
                <a:lnTo>
                  <a:pt x="145656" y="0"/>
                </a:lnTo>
                <a:lnTo>
                  <a:pt x="0" y="0"/>
                </a:lnTo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40" y="1646237"/>
            <a:ext cx="187261" cy="184658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8211819" y="3553459"/>
            <a:ext cx="656590" cy="1590040"/>
          </a:xfrm>
          <a:custGeom>
            <a:avLst/>
            <a:gdLst/>
            <a:ahLst/>
            <a:cxnLst/>
            <a:rect l="l" t="t" r="r" b="b"/>
            <a:pathLst>
              <a:path w="656590" h="1590039">
                <a:moveTo>
                  <a:pt x="656208" y="0"/>
                </a:moveTo>
                <a:lnTo>
                  <a:pt x="656208" y="356095"/>
                </a:lnTo>
                <a:lnTo>
                  <a:pt x="0" y="1011758"/>
                </a:lnTo>
                <a:lnTo>
                  <a:pt x="0" y="1590039"/>
                </a:lnTo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211820" y="4696777"/>
            <a:ext cx="932180" cy="283845"/>
          </a:xfrm>
          <a:custGeom>
            <a:avLst/>
            <a:gdLst/>
            <a:ahLst/>
            <a:cxnLst/>
            <a:rect l="l" t="t" r="r" b="b"/>
            <a:pathLst>
              <a:path w="932179" h="283845">
                <a:moveTo>
                  <a:pt x="932180" y="274320"/>
                </a:moveTo>
                <a:lnTo>
                  <a:pt x="0" y="274320"/>
                </a:lnTo>
                <a:lnTo>
                  <a:pt x="0" y="283845"/>
                </a:lnTo>
                <a:lnTo>
                  <a:pt x="932180" y="283845"/>
                </a:lnTo>
                <a:lnTo>
                  <a:pt x="932180" y="274320"/>
                </a:lnTo>
                <a:close/>
              </a:path>
              <a:path w="932179" h="283845">
                <a:moveTo>
                  <a:pt x="932180" y="205740"/>
                </a:moveTo>
                <a:lnTo>
                  <a:pt x="0" y="205740"/>
                </a:lnTo>
                <a:lnTo>
                  <a:pt x="0" y="215265"/>
                </a:lnTo>
                <a:lnTo>
                  <a:pt x="932180" y="215265"/>
                </a:lnTo>
                <a:lnTo>
                  <a:pt x="932180" y="205740"/>
                </a:lnTo>
                <a:close/>
              </a:path>
              <a:path w="932179" h="283845">
                <a:moveTo>
                  <a:pt x="932180" y="137160"/>
                </a:moveTo>
                <a:lnTo>
                  <a:pt x="0" y="137160"/>
                </a:lnTo>
                <a:lnTo>
                  <a:pt x="0" y="146685"/>
                </a:lnTo>
                <a:lnTo>
                  <a:pt x="932180" y="146685"/>
                </a:lnTo>
                <a:lnTo>
                  <a:pt x="932180" y="137160"/>
                </a:lnTo>
                <a:close/>
              </a:path>
              <a:path w="932179" h="283845">
                <a:moveTo>
                  <a:pt x="932180" y="68580"/>
                </a:moveTo>
                <a:lnTo>
                  <a:pt x="0" y="68580"/>
                </a:lnTo>
                <a:lnTo>
                  <a:pt x="0" y="78105"/>
                </a:lnTo>
                <a:lnTo>
                  <a:pt x="932180" y="78105"/>
                </a:lnTo>
                <a:lnTo>
                  <a:pt x="932180" y="68580"/>
                </a:lnTo>
                <a:close/>
              </a:path>
              <a:path w="932179" h="283845">
                <a:moveTo>
                  <a:pt x="932180" y="0"/>
                </a:moveTo>
                <a:lnTo>
                  <a:pt x="0" y="0"/>
                </a:lnTo>
                <a:lnTo>
                  <a:pt x="0" y="9525"/>
                </a:lnTo>
                <a:lnTo>
                  <a:pt x="932180" y="9525"/>
                </a:lnTo>
                <a:lnTo>
                  <a:pt x="932180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8615679" y="4432337"/>
            <a:ext cx="441959" cy="40640"/>
          </a:xfrm>
          <a:custGeom>
            <a:avLst/>
            <a:gdLst/>
            <a:ahLst/>
            <a:cxnLst/>
            <a:rect l="l" t="t" r="r" b="b"/>
            <a:pathLst>
              <a:path w="441959" h="40639">
                <a:moveTo>
                  <a:pt x="421894" y="0"/>
                </a:moveTo>
                <a:lnTo>
                  <a:pt x="20066" y="0"/>
                </a:lnTo>
                <a:lnTo>
                  <a:pt x="12430" y="1508"/>
                </a:lnTo>
                <a:lnTo>
                  <a:pt x="6032" y="5711"/>
                </a:lnTo>
                <a:lnTo>
                  <a:pt x="1635" y="12130"/>
                </a:lnTo>
                <a:lnTo>
                  <a:pt x="0" y="20281"/>
                </a:lnTo>
                <a:lnTo>
                  <a:pt x="1635" y="28021"/>
                </a:lnTo>
                <a:lnTo>
                  <a:pt x="6032" y="34499"/>
                </a:lnTo>
                <a:lnTo>
                  <a:pt x="12430" y="38948"/>
                </a:lnTo>
                <a:lnTo>
                  <a:pt x="20066" y="40601"/>
                </a:lnTo>
                <a:lnTo>
                  <a:pt x="421894" y="40601"/>
                </a:lnTo>
                <a:lnTo>
                  <a:pt x="429958" y="38948"/>
                </a:lnTo>
                <a:lnTo>
                  <a:pt x="436308" y="34499"/>
                </a:lnTo>
                <a:lnTo>
                  <a:pt x="440467" y="28021"/>
                </a:lnTo>
                <a:lnTo>
                  <a:pt x="441960" y="20281"/>
                </a:lnTo>
                <a:lnTo>
                  <a:pt x="440467" y="12130"/>
                </a:lnTo>
                <a:lnTo>
                  <a:pt x="436308" y="5711"/>
                </a:lnTo>
                <a:lnTo>
                  <a:pt x="429958" y="1508"/>
                </a:lnTo>
                <a:lnTo>
                  <a:pt x="421894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42900" y="2524760"/>
            <a:ext cx="40640" cy="441959"/>
          </a:xfrm>
          <a:custGeom>
            <a:avLst/>
            <a:gdLst/>
            <a:ahLst/>
            <a:cxnLst/>
            <a:rect l="l" t="t" r="r" b="b"/>
            <a:pathLst>
              <a:path w="40639" h="441960">
                <a:moveTo>
                  <a:pt x="20320" y="0"/>
                </a:moveTo>
                <a:lnTo>
                  <a:pt x="12580" y="1635"/>
                </a:lnTo>
                <a:lnTo>
                  <a:pt x="6102" y="6032"/>
                </a:lnTo>
                <a:lnTo>
                  <a:pt x="1653" y="12430"/>
                </a:lnTo>
                <a:lnTo>
                  <a:pt x="0" y="20065"/>
                </a:lnTo>
                <a:lnTo>
                  <a:pt x="0" y="421894"/>
                </a:lnTo>
                <a:lnTo>
                  <a:pt x="1653" y="429958"/>
                </a:lnTo>
                <a:lnTo>
                  <a:pt x="6102" y="436308"/>
                </a:lnTo>
                <a:lnTo>
                  <a:pt x="12580" y="440467"/>
                </a:lnTo>
                <a:lnTo>
                  <a:pt x="20320" y="441959"/>
                </a:lnTo>
                <a:lnTo>
                  <a:pt x="28471" y="440467"/>
                </a:lnTo>
                <a:lnTo>
                  <a:pt x="34890" y="436308"/>
                </a:lnTo>
                <a:lnTo>
                  <a:pt x="39093" y="429958"/>
                </a:lnTo>
                <a:lnTo>
                  <a:pt x="40601" y="421894"/>
                </a:lnTo>
                <a:lnTo>
                  <a:pt x="40601" y="20065"/>
                </a:lnTo>
                <a:lnTo>
                  <a:pt x="39093" y="12430"/>
                </a:lnTo>
                <a:lnTo>
                  <a:pt x="34890" y="6032"/>
                </a:lnTo>
                <a:lnTo>
                  <a:pt x="28471" y="1635"/>
                </a:lnTo>
                <a:lnTo>
                  <a:pt x="20320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523240" y="617219"/>
            <a:ext cx="195580" cy="228600"/>
          </a:xfrm>
          <a:custGeom>
            <a:avLst/>
            <a:gdLst/>
            <a:ahLst/>
            <a:cxnLst/>
            <a:rect l="l" t="t" r="r" b="b"/>
            <a:pathLst>
              <a:path w="195579" h="228600">
                <a:moveTo>
                  <a:pt x="0" y="0"/>
                </a:moveTo>
                <a:lnTo>
                  <a:pt x="0" y="228600"/>
                </a:lnTo>
                <a:lnTo>
                  <a:pt x="195579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00C9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10D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615680" y="683259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80">
                <a:moveTo>
                  <a:pt x="20827" y="0"/>
                </a:moveTo>
                <a:lnTo>
                  <a:pt x="29356" y="1537"/>
                </a:lnTo>
                <a:lnTo>
                  <a:pt x="36480" y="5826"/>
                </a:lnTo>
                <a:lnTo>
                  <a:pt x="41366" y="12376"/>
                </a:lnTo>
                <a:lnTo>
                  <a:pt x="43179" y="20700"/>
                </a:lnTo>
                <a:lnTo>
                  <a:pt x="43179" y="454278"/>
                </a:lnTo>
                <a:lnTo>
                  <a:pt x="41366" y="461853"/>
                </a:lnTo>
                <a:lnTo>
                  <a:pt x="36480" y="468487"/>
                </a:lnTo>
                <a:lnTo>
                  <a:pt x="29356" y="473192"/>
                </a:lnTo>
                <a:lnTo>
                  <a:pt x="20827" y="474979"/>
                </a:lnTo>
                <a:lnTo>
                  <a:pt x="13180" y="473192"/>
                </a:lnTo>
                <a:lnTo>
                  <a:pt x="6508" y="468487"/>
                </a:lnTo>
                <a:lnTo>
                  <a:pt x="1789" y="461853"/>
                </a:lnTo>
                <a:lnTo>
                  <a:pt x="0" y="454278"/>
                </a:lnTo>
                <a:lnTo>
                  <a:pt x="0" y="20700"/>
                </a:lnTo>
                <a:lnTo>
                  <a:pt x="1789" y="12376"/>
                </a:lnTo>
                <a:lnTo>
                  <a:pt x="6508" y="5826"/>
                </a:lnTo>
                <a:lnTo>
                  <a:pt x="13180" y="1537"/>
                </a:lnTo>
                <a:lnTo>
                  <a:pt x="20827" y="0"/>
                </a:lnTo>
                <a:close/>
              </a:path>
            </a:pathLst>
          </a:custGeom>
          <a:ln w="9524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813800" y="444500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80">
                <a:moveTo>
                  <a:pt x="20827" y="0"/>
                </a:moveTo>
                <a:lnTo>
                  <a:pt x="29356" y="1537"/>
                </a:lnTo>
                <a:lnTo>
                  <a:pt x="36480" y="5826"/>
                </a:lnTo>
                <a:lnTo>
                  <a:pt x="41366" y="12376"/>
                </a:lnTo>
                <a:lnTo>
                  <a:pt x="43179" y="20700"/>
                </a:lnTo>
                <a:lnTo>
                  <a:pt x="43179" y="454278"/>
                </a:lnTo>
                <a:lnTo>
                  <a:pt x="41366" y="461853"/>
                </a:lnTo>
                <a:lnTo>
                  <a:pt x="36480" y="468487"/>
                </a:lnTo>
                <a:lnTo>
                  <a:pt x="29356" y="473192"/>
                </a:lnTo>
                <a:lnTo>
                  <a:pt x="20827" y="474979"/>
                </a:lnTo>
                <a:lnTo>
                  <a:pt x="13180" y="473192"/>
                </a:lnTo>
                <a:lnTo>
                  <a:pt x="6508" y="468487"/>
                </a:lnTo>
                <a:lnTo>
                  <a:pt x="1789" y="461853"/>
                </a:lnTo>
                <a:lnTo>
                  <a:pt x="0" y="454278"/>
                </a:lnTo>
                <a:lnTo>
                  <a:pt x="0" y="20700"/>
                </a:lnTo>
                <a:lnTo>
                  <a:pt x="1789" y="12376"/>
                </a:lnTo>
                <a:lnTo>
                  <a:pt x="6508" y="5826"/>
                </a:lnTo>
                <a:lnTo>
                  <a:pt x="13180" y="1537"/>
                </a:lnTo>
                <a:lnTo>
                  <a:pt x="20827" y="0"/>
                </a:lnTo>
                <a:close/>
              </a:path>
            </a:pathLst>
          </a:custGeom>
          <a:ln w="9524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87960" y="4274819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79">
                <a:moveTo>
                  <a:pt x="20789" y="0"/>
                </a:moveTo>
                <a:lnTo>
                  <a:pt x="29362" y="1545"/>
                </a:lnTo>
                <a:lnTo>
                  <a:pt x="36495" y="5851"/>
                </a:lnTo>
                <a:lnTo>
                  <a:pt x="41372" y="12419"/>
                </a:lnTo>
                <a:lnTo>
                  <a:pt x="43179" y="20751"/>
                </a:lnTo>
                <a:lnTo>
                  <a:pt x="43179" y="454228"/>
                </a:lnTo>
                <a:lnTo>
                  <a:pt x="41372" y="461827"/>
                </a:lnTo>
                <a:lnTo>
                  <a:pt x="36495" y="468453"/>
                </a:lnTo>
                <a:lnTo>
                  <a:pt x="29362" y="473139"/>
                </a:lnTo>
                <a:lnTo>
                  <a:pt x="20789" y="474916"/>
                </a:lnTo>
                <a:lnTo>
                  <a:pt x="13142" y="473139"/>
                </a:lnTo>
                <a:lnTo>
                  <a:pt x="6484" y="468453"/>
                </a:lnTo>
                <a:lnTo>
                  <a:pt x="1782" y="461827"/>
                </a:lnTo>
                <a:lnTo>
                  <a:pt x="0" y="454228"/>
                </a:lnTo>
                <a:lnTo>
                  <a:pt x="0" y="20751"/>
                </a:lnTo>
                <a:lnTo>
                  <a:pt x="1782" y="12419"/>
                </a:lnTo>
                <a:lnTo>
                  <a:pt x="6484" y="5851"/>
                </a:lnTo>
                <a:lnTo>
                  <a:pt x="13142" y="1545"/>
                </a:lnTo>
                <a:lnTo>
                  <a:pt x="20789" y="0"/>
                </a:lnTo>
                <a:close/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53060" y="4566920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79">
                <a:moveTo>
                  <a:pt x="20789" y="0"/>
                </a:moveTo>
                <a:lnTo>
                  <a:pt x="29362" y="1545"/>
                </a:lnTo>
                <a:lnTo>
                  <a:pt x="36495" y="5851"/>
                </a:lnTo>
                <a:lnTo>
                  <a:pt x="41372" y="12419"/>
                </a:lnTo>
                <a:lnTo>
                  <a:pt x="43179" y="20751"/>
                </a:lnTo>
                <a:lnTo>
                  <a:pt x="43179" y="454224"/>
                </a:lnTo>
                <a:lnTo>
                  <a:pt x="41372" y="461824"/>
                </a:lnTo>
                <a:lnTo>
                  <a:pt x="36495" y="468454"/>
                </a:lnTo>
                <a:lnTo>
                  <a:pt x="29362" y="473144"/>
                </a:lnTo>
                <a:lnTo>
                  <a:pt x="20789" y="474922"/>
                </a:lnTo>
                <a:lnTo>
                  <a:pt x="13142" y="473144"/>
                </a:lnTo>
                <a:lnTo>
                  <a:pt x="6484" y="468454"/>
                </a:lnTo>
                <a:lnTo>
                  <a:pt x="1782" y="461824"/>
                </a:lnTo>
                <a:lnTo>
                  <a:pt x="0" y="454224"/>
                </a:lnTo>
                <a:lnTo>
                  <a:pt x="0" y="20751"/>
                </a:lnTo>
                <a:lnTo>
                  <a:pt x="1782" y="12419"/>
                </a:lnTo>
                <a:lnTo>
                  <a:pt x="6484" y="5851"/>
                </a:lnTo>
                <a:lnTo>
                  <a:pt x="13142" y="1545"/>
                </a:lnTo>
                <a:lnTo>
                  <a:pt x="20789" y="0"/>
                </a:lnTo>
                <a:close/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7519" y="2870200"/>
            <a:ext cx="40640" cy="441959"/>
          </a:xfrm>
          <a:custGeom>
            <a:avLst/>
            <a:gdLst/>
            <a:ahLst/>
            <a:cxnLst/>
            <a:rect l="l" t="t" r="r" b="b"/>
            <a:pathLst>
              <a:path w="40640" h="441960">
                <a:moveTo>
                  <a:pt x="20320" y="0"/>
                </a:moveTo>
                <a:lnTo>
                  <a:pt x="12580" y="1635"/>
                </a:lnTo>
                <a:lnTo>
                  <a:pt x="6102" y="6032"/>
                </a:lnTo>
                <a:lnTo>
                  <a:pt x="1653" y="12430"/>
                </a:lnTo>
                <a:lnTo>
                  <a:pt x="0" y="20066"/>
                </a:lnTo>
                <a:lnTo>
                  <a:pt x="0" y="421894"/>
                </a:lnTo>
                <a:lnTo>
                  <a:pt x="1653" y="429958"/>
                </a:lnTo>
                <a:lnTo>
                  <a:pt x="6102" y="436308"/>
                </a:lnTo>
                <a:lnTo>
                  <a:pt x="12580" y="440467"/>
                </a:lnTo>
                <a:lnTo>
                  <a:pt x="20320" y="441960"/>
                </a:lnTo>
                <a:lnTo>
                  <a:pt x="28471" y="440467"/>
                </a:lnTo>
                <a:lnTo>
                  <a:pt x="34890" y="436308"/>
                </a:lnTo>
                <a:lnTo>
                  <a:pt x="39093" y="429958"/>
                </a:lnTo>
                <a:lnTo>
                  <a:pt x="40601" y="421894"/>
                </a:lnTo>
                <a:lnTo>
                  <a:pt x="40601" y="20066"/>
                </a:lnTo>
                <a:lnTo>
                  <a:pt x="39093" y="12430"/>
                </a:lnTo>
                <a:lnTo>
                  <a:pt x="34890" y="6032"/>
                </a:lnTo>
                <a:lnTo>
                  <a:pt x="28471" y="1635"/>
                </a:lnTo>
                <a:lnTo>
                  <a:pt x="20320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59080" y="3644900"/>
            <a:ext cx="347980" cy="198120"/>
          </a:xfrm>
          <a:custGeom>
            <a:avLst/>
            <a:gdLst/>
            <a:ahLst/>
            <a:cxnLst/>
            <a:rect l="l" t="t" r="r" b="b"/>
            <a:pathLst>
              <a:path w="347980" h="198120">
                <a:moveTo>
                  <a:pt x="347903" y="197993"/>
                </a:moveTo>
                <a:lnTo>
                  <a:pt x="146735" y="0"/>
                </a:lnTo>
                <a:lnTo>
                  <a:pt x="0" y="0"/>
                </a:lnTo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880" y="3823017"/>
            <a:ext cx="187261" cy="184721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259080" y="3088640"/>
            <a:ext cx="477520" cy="2054860"/>
          </a:xfrm>
          <a:custGeom>
            <a:avLst/>
            <a:gdLst/>
            <a:ahLst/>
            <a:cxnLst/>
            <a:rect l="l" t="t" r="r" b="b"/>
            <a:pathLst>
              <a:path w="477520" h="2054860">
                <a:moveTo>
                  <a:pt x="0" y="0"/>
                </a:moveTo>
                <a:lnTo>
                  <a:pt x="0" y="916279"/>
                </a:lnTo>
                <a:lnTo>
                  <a:pt x="477520" y="1392643"/>
                </a:lnTo>
                <a:lnTo>
                  <a:pt x="477520" y="2054860"/>
                </a:lnTo>
              </a:path>
            </a:pathLst>
          </a:custGeom>
          <a:ln w="9524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737600" y="1381760"/>
            <a:ext cx="40640" cy="439420"/>
          </a:xfrm>
          <a:custGeom>
            <a:avLst/>
            <a:gdLst/>
            <a:ahLst/>
            <a:cxnLst/>
            <a:rect l="l" t="t" r="r" b="b"/>
            <a:pathLst>
              <a:path w="40640" h="439419">
                <a:moveTo>
                  <a:pt x="20320" y="0"/>
                </a:moveTo>
                <a:lnTo>
                  <a:pt x="12590" y="1633"/>
                </a:lnTo>
                <a:lnTo>
                  <a:pt x="6111" y="6016"/>
                </a:lnTo>
                <a:lnTo>
                  <a:pt x="1656" y="12376"/>
                </a:lnTo>
                <a:lnTo>
                  <a:pt x="0" y="19938"/>
                </a:lnTo>
                <a:lnTo>
                  <a:pt x="0" y="419480"/>
                </a:lnTo>
                <a:lnTo>
                  <a:pt x="1656" y="427472"/>
                </a:lnTo>
                <a:lnTo>
                  <a:pt x="6111" y="433784"/>
                </a:lnTo>
                <a:lnTo>
                  <a:pt x="12590" y="437929"/>
                </a:lnTo>
                <a:lnTo>
                  <a:pt x="20320" y="439419"/>
                </a:lnTo>
                <a:lnTo>
                  <a:pt x="28477" y="437929"/>
                </a:lnTo>
                <a:lnTo>
                  <a:pt x="34909" y="433784"/>
                </a:lnTo>
                <a:lnTo>
                  <a:pt x="39125" y="427472"/>
                </a:lnTo>
                <a:lnTo>
                  <a:pt x="40640" y="419480"/>
                </a:lnTo>
                <a:lnTo>
                  <a:pt x="40640" y="19938"/>
                </a:lnTo>
                <a:lnTo>
                  <a:pt x="39125" y="12376"/>
                </a:lnTo>
                <a:lnTo>
                  <a:pt x="34909" y="6016"/>
                </a:lnTo>
                <a:lnTo>
                  <a:pt x="28477" y="1633"/>
                </a:lnTo>
                <a:lnTo>
                  <a:pt x="20320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786161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779303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772445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765841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7589837" y="0"/>
            <a:ext cx="9525" cy="431800"/>
          </a:xfrm>
          <a:custGeom>
            <a:avLst/>
            <a:gdLst/>
            <a:ahLst/>
            <a:cxnLst/>
            <a:rect l="l" t="t" r="r" b="b"/>
            <a:pathLst>
              <a:path w="9525" h="431800">
                <a:moveTo>
                  <a:pt x="9525" y="0"/>
                </a:moveTo>
                <a:lnTo>
                  <a:pt x="0" y="0"/>
                </a:lnTo>
                <a:lnTo>
                  <a:pt x="0" y="431800"/>
                </a:lnTo>
                <a:lnTo>
                  <a:pt x="9525" y="431800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5803972" y="0"/>
            <a:ext cx="3186430" cy="431800"/>
          </a:xfrm>
          <a:custGeom>
            <a:avLst/>
            <a:gdLst/>
            <a:ahLst/>
            <a:cxnLst/>
            <a:rect l="l" t="t" r="r" b="b"/>
            <a:pathLst>
              <a:path w="3186429" h="431800">
                <a:moveTo>
                  <a:pt x="0" y="0"/>
                </a:moveTo>
                <a:lnTo>
                  <a:pt x="432362" y="431800"/>
                </a:lnTo>
                <a:lnTo>
                  <a:pt x="2285292" y="431800"/>
                </a:lnTo>
                <a:lnTo>
                  <a:pt x="2502081" y="215264"/>
                </a:lnTo>
                <a:lnTo>
                  <a:pt x="2970584" y="215264"/>
                </a:lnTo>
                <a:lnTo>
                  <a:pt x="3186087" y="0"/>
                </a:lnTo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8830" y="511428"/>
            <a:ext cx="4424997" cy="6741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9762" y="1752980"/>
            <a:ext cx="8228330" cy="2586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" y="-60498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10D2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02397" y="360997"/>
            <a:ext cx="624205" cy="633730"/>
            <a:chOff x="1402397" y="360997"/>
            <a:chExt cx="624205" cy="633730"/>
          </a:xfrm>
        </p:grpSpPr>
        <p:sp>
          <p:nvSpPr>
            <p:cNvPr id="4" name="object 4"/>
            <p:cNvSpPr/>
            <p:nvPr/>
          </p:nvSpPr>
          <p:spPr>
            <a:xfrm>
              <a:off x="1407160" y="525779"/>
              <a:ext cx="450850" cy="464184"/>
            </a:xfrm>
            <a:custGeom>
              <a:avLst/>
              <a:gdLst/>
              <a:ahLst/>
              <a:cxnLst/>
              <a:rect l="l" t="t" r="r" b="b"/>
              <a:pathLst>
                <a:path w="450850" h="464184">
                  <a:moveTo>
                    <a:pt x="0" y="464058"/>
                  </a:moveTo>
                  <a:lnTo>
                    <a:pt x="450596" y="0"/>
                  </a:lnTo>
                </a:path>
              </a:pathLst>
            </a:custGeom>
            <a:ln w="9525">
              <a:solidFill>
                <a:srgbClr val="696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1624" y="360997"/>
              <a:ext cx="204977" cy="199898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1148397" y="0"/>
            <a:ext cx="9525" cy="989330"/>
          </a:xfrm>
          <a:custGeom>
            <a:avLst/>
            <a:gdLst/>
            <a:ahLst/>
            <a:cxnLst/>
            <a:rect l="l" t="t" r="r" b="b"/>
            <a:pathLst>
              <a:path w="9525" h="989330">
                <a:moveTo>
                  <a:pt x="9525" y="0"/>
                </a:moveTo>
                <a:lnTo>
                  <a:pt x="0" y="0"/>
                </a:lnTo>
                <a:lnTo>
                  <a:pt x="0" y="988949"/>
                </a:lnTo>
                <a:lnTo>
                  <a:pt x="9525" y="988949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13777" y="0"/>
            <a:ext cx="9525" cy="989330"/>
          </a:xfrm>
          <a:custGeom>
            <a:avLst/>
            <a:gdLst/>
            <a:ahLst/>
            <a:cxnLst/>
            <a:rect l="l" t="t" r="r" b="b"/>
            <a:pathLst>
              <a:path w="9525" h="989330">
                <a:moveTo>
                  <a:pt x="9525" y="0"/>
                </a:moveTo>
                <a:lnTo>
                  <a:pt x="0" y="0"/>
                </a:lnTo>
                <a:lnTo>
                  <a:pt x="0" y="988949"/>
                </a:lnTo>
                <a:lnTo>
                  <a:pt x="9525" y="988949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2357" y="0"/>
            <a:ext cx="9525" cy="989330"/>
          </a:xfrm>
          <a:custGeom>
            <a:avLst/>
            <a:gdLst/>
            <a:ahLst/>
            <a:cxnLst/>
            <a:rect l="l" t="t" r="r" b="b"/>
            <a:pathLst>
              <a:path w="9525" h="989330">
                <a:moveTo>
                  <a:pt x="9525" y="0"/>
                </a:moveTo>
                <a:lnTo>
                  <a:pt x="0" y="0"/>
                </a:lnTo>
                <a:lnTo>
                  <a:pt x="0" y="988949"/>
                </a:lnTo>
                <a:lnTo>
                  <a:pt x="9525" y="988949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5197" y="0"/>
            <a:ext cx="9525" cy="989330"/>
          </a:xfrm>
          <a:custGeom>
            <a:avLst/>
            <a:gdLst/>
            <a:ahLst/>
            <a:cxnLst/>
            <a:rect l="l" t="t" r="r" b="b"/>
            <a:pathLst>
              <a:path w="9525" h="989330">
                <a:moveTo>
                  <a:pt x="9525" y="0"/>
                </a:moveTo>
                <a:lnTo>
                  <a:pt x="0" y="0"/>
                </a:lnTo>
                <a:lnTo>
                  <a:pt x="0" y="988949"/>
                </a:lnTo>
                <a:lnTo>
                  <a:pt x="9525" y="988949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617" y="0"/>
            <a:ext cx="9525" cy="989330"/>
          </a:xfrm>
          <a:custGeom>
            <a:avLst/>
            <a:gdLst/>
            <a:ahLst/>
            <a:cxnLst/>
            <a:rect l="l" t="t" r="r" b="b"/>
            <a:pathLst>
              <a:path w="9525" h="989330">
                <a:moveTo>
                  <a:pt x="9525" y="0"/>
                </a:moveTo>
                <a:lnTo>
                  <a:pt x="0" y="0"/>
                </a:lnTo>
                <a:lnTo>
                  <a:pt x="0" y="988949"/>
                </a:lnTo>
                <a:lnTo>
                  <a:pt x="9525" y="988949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8037" y="0"/>
            <a:ext cx="9525" cy="989330"/>
          </a:xfrm>
          <a:custGeom>
            <a:avLst/>
            <a:gdLst/>
            <a:ahLst/>
            <a:cxnLst/>
            <a:rect l="l" t="t" r="r" b="b"/>
            <a:pathLst>
              <a:path w="9525" h="989330">
                <a:moveTo>
                  <a:pt x="9525" y="0"/>
                </a:moveTo>
                <a:lnTo>
                  <a:pt x="0" y="0"/>
                </a:lnTo>
                <a:lnTo>
                  <a:pt x="0" y="988949"/>
                </a:lnTo>
                <a:lnTo>
                  <a:pt x="9525" y="988949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39457" y="0"/>
            <a:ext cx="9525" cy="989330"/>
          </a:xfrm>
          <a:custGeom>
            <a:avLst/>
            <a:gdLst/>
            <a:ahLst/>
            <a:cxnLst/>
            <a:rect l="l" t="t" r="r" b="b"/>
            <a:pathLst>
              <a:path w="9525" h="989330">
                <a:moveTo>
                  <a:pt x="9525" y="0"/>
                </a:moveTo>
                <a:lnTo>
                  <a:pt x="0" y="0"/>
                </a:lnTo>
                <a:lnTo>
                  <a:pt x="0" y="988949"/>
                </a:lnTo>
                <a:lnTo>
                  <a:pt x="9525" y="988949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70877" y="0"/>
            <a:ext cx="9525" cy="989330"/>
          </a:xfrm>
          <a:custGeom>
            <a:avLst/>
            <a:gdLst/>
            <a:ahLst/>
            <a:cxnLst/>
            <a:rect l="l" t="t" r="r" b="b"/>
            <a:pathLst>
              <a:path w="9525" h="989330">
                <a:moveTo>
                  <a:pt x="9525" y="0"/>
                </a:moveTo>
                <a:lnTo>
                  <a:pt x="0" y="0"/>
                </a:lnTo>
                <a:lnTo>
                  <a:pt x="0" y="988949"/>
                </a:lnTo>
                <a:lnTo>
                  <a:pt x="9525" y="988949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2297" y="0"/>
            <a:ext cx="9525" cy="989330"/>
          </a:xfrm>
          <a:custGeom>
            <a:avLst/>
            <a:gdLst/>
            <a:ahLst/>
            <a:cxnLst/>
            <a:rect l="l" t="t" r="r" b="b"/>
            <a:pathLst>
              <a:path w="9525" h="989330">
                <a:moveTo>
                  <a:pt x="9525" y="0"/>
                </a:moveTo>
                <a:lnTo>
                  <a:pt x="0" y="0"/>
                </a:lnTo>
                <a:lnTo>
                  <a:pt x="0" y="988949"/>
                </a:lnTo>
                <a:lnTo>
                  <a:pt x="9525" y="988949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3717" y="0"/>
            <a:ext cx="9525" cy="989330"/>
          </a:xfrm>
          <a:custGeom>
            <a:avLst/>
            <a:gdLst/>
            <a:ahLst/>
            <a:cxnLst/>
            <a:rect l="l" t="t" r="r" b="b"/>
            <a:pathLst>
              <a:path w="9525" h="989330">
                <a:moveTo>
                  <a:pt x="9525" y="0"/>
                </a:moveTo>
                <a:lnTo>
                  <a:pt x="0" y="0"/>
                </a:lnTo>
                <a:lnTo>
                  <a:pt x="0" y="988949"/>
                </a:lnTo>
                <a:lnTo>
                  <a:pt x="9525" y="988949"/>
                </a:lnTo>
                <a:lnTo>
                  <a:pt x="9525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8397557" y="0"/>
            <a:ext cx="537845" cy="1560195"/>
            <a:chOff x="8397557" y="0"/>
            <a:chExt cx="537845" cy="1560195"/>
          </a:xfrm>
        </p:grpSpPr>
        <p:sp>
          <p:nvSpPr>
            <p:cNvPr id="17" name="object 17"/>
            <p:cNvSpPr/>
            <p:nvPr/>
          </p:nvSpPr>
          <p:spPr>
            <a:xfrm>
              <a:off x="8925877" y="0"/>
              <a:ext cx="9525" cy="1036319"/>
            </a:xfrm>
            <a:custGeom>
              <a:avLst/>
              <a:gdLst/>
              <a:ahLst/>
              <a:cxnLst/>
              <a:rect l="l" t="t" r="r" b="b"/>
              <a:pathLst>
                <a:path w="9525" h="1036319">
                  <a:moveTo>
                    <a:pt x="9525" y="0"/>
                  </a:moveTo>
                  <a:lnTo>
                    <a:pt x="0" y="0"/>
                  </a:lnTo>
                  <a:lnTo>
                    <a:pt x="0" y="1036192"/>
                  </a:lnTo>
                  <a:lnTo>
                    <a:pt x="9525" y="1036192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AEAE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02319" y="1036319"/>
              <a:ext cx="527050" cy="519430"/>
            </a:xfrm>
            <a:custGeom>
              <a:avLst/>
              <a:gdLst/>
              <a:ahLst/>
              <a:cxnLst/>
              <a:rect l="l" t="t" r="r" b="b"/>
              <a:pathLst>
                <a:path w="527050" h="519430">
                  <a:moveTo>
                    <a:pt x="526796" y="0"/>
                  </a:moveTo>
                  <a:lnTo>
                    <a:pt x="0" y="518921"/>
                  </a:lnTo>
                </a:path>
              </a:pathLst>
            </a:custGeom>
            <a:ln w="9525">
              <a:solidFill>
                <a:srgbClr val="AEAE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82786" y="520826"/>
              <a:ext cx="347980" cy="198120"/>
            </a:xfrm>
            <a:custGeom>
              <a:avLst/>
              <a:gdLst/>
              <a:ahLst/>
              <a:cxnLst/>
              <a:rect l="l" t="t" r="r" b="b"/>
              <a:pathLst>
                <a:path w="347979" h="198120">
                  <a:moveTo>
                    <a:pt x="0" y="0"/>
                  </a:moveTo>
                  <a:lnTo>
                    <a:pt x="201168" y="197993"/>
                  </a:lnTo>
                  <a:lnTo>
                    <a:pt x="347853" y="197993"/>
                  </a:lnTo>
                </a:path>
              </a:pathLst>
            </a:custGeom>
            <a:ln w="9525">
              <a:solidFill>
                <a:srgbClr val="696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30577" y="356044"/>
              <a:ext cx="187198" cy="184657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0" y="1137919"/>
            <a:ext cx="289560" cy="40640"/>
          </a:xfrm>
          <a:custGeom>
            <a:avLst/>
            <a:gdLst/>
            <a:ahLst/>
            <a:cxnLst/>
            <a:rect l="l" t="t" r="r" b="b"/>
            <a:pathLst>
              <a:path w="289560" h="40640">
                <a:moveTo>
                  <a:pt x="269608" y="0"/>
                </a:moveTo>
                <a:lnTo>
                  <a:pt x="0" y="0"/>
                </a:lnTo>
                <a:lnTo>
                  <a:pt x="0" y="40639"/>
                </a:lnTo>
                <a:lnTo>
                  <a:pt x="269608" y="40639"/>
                </a:lnTo>
                <a:lnTo>
                  <a:pt x="277611" y="39125"/>
                </a:lnTo>
                <a:lnTo>
                  <a:pt x="283913" y="34909"/>
                </a:lnTo>
                <a:lnTo>
                  <a:pt x="288041" y="28477"/>
                </a:lnTo>
                <a:lnTo>
                  <a:pt x="289521" y="20319"/>
                </a:lnTo>
                <a:lnTo>
                  <a:pt x="288041" y="12590"/>
                </a:lnTo>
                <a:lnTo>
                  <a:pt x="283913" y="6111"/>
                </a:lnTo>
                <a:lnTo>
                  <a:pt x="277611" y="1656"/>
                </a:lnTo>
                <a:lnTo>
                  <a:pt x="269608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890000" y="1511300"/>
            <a:ext cx="40640" cy="439420"/>
          </a:xfrm>
          <a:custGeom>
            <a:avLst/>
            <a:gdLst/>
            <a:ahLst/>
            <a:cxnLst/>
            <a:rect l="l" t="t" r="r" b="b"/>
            <a:pathLst>
              <a:path w="40640" h="439419">
                <a:moveTo>
                  <a:pt x="20320" y="0"/>
                </a:moveTo>
                <a:lnTo>
                  <a:pt x="12590" y="1490"/>
                </a:lnTo>
                <a:lnTo>
                  <a:pt x="6111" y="5635"/>
                </a:lnTo>
                <a:lnTo>
                  <a:pt x="1656" y="11947"/>
                </a:lnTo>
                <a:lnTo>
                  <a:pt x="0" y="19938"/>
                </a:lnTo>
                <a:lnTo>
                  <a:pt x="0" y="419481"/>
                </a:lnTo>
                <a:lnTo>
                  <a:pt x="1656" y="427043"/>
                </a:lnTo>
                <a:lnTo>
                  <a:pt x="6111" y="433403"/>
                </a:lnTo>
                <a:lnTo>
                  <a:pt x="12590" y="437786"/>
                </a:lnTo>
                <a:lnTo>
                  <a:pt x="20320" y="439419"/>
                </a:lnTo>
                <a:lnTo>
                  <a:pt x="28477" y="437786"/>
                </a:lnTo>
                <a:lnTo>
                  <a:pt x="34909" y="433403"/>
                </a:lnTo>
                <a:lnTo>
                  <a:pt x="39125" y="427043"/>
                </a:lnTo>
                <a:lnTo>
                  <a:pt x="40640" y="419481"/>
                </a:lnTo>
                <a:lnTo>
                  <a:pt x="40640" y="19938"/>
                </a:lnTo>
                <a:lnTo>
                  <a:pt x="39125" y="11947"/>
                </a:lnTo>
                <a:lnTo>
                  <a:pt x="34909" y="5635"/>
                </a:lnTo>
                <a:lnTo>
                  <a:pt x="28477" y="1490"/>
                </a:lnTo>
                <a:lnTo>
                  <a:pt x="20320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8605964" y="3369405"/>
            <a:ext cx="542925" cy="1120140"/>
            <a:chOff x="8605964" y="3369405"/>
            <a:chExt cx="542925" cy="1120140"/>
          </a:xfrm>
        </p:grpSpPr>
        <p:sp>
          <p:nvSpPr>
            <p:cNvPr id="24" name="object 24"/>
            <p:cNvSpPr/>
            <p:nvPr/>
          </p:nvSpPr>
          <p:spPr>
            <a:xfrm>
              <a:off x="8610727" y="3374167"/>
              <a:ext cx="533400" cy="1110615"/>
            </a:xfrm>
            <a:custGeom>
              <a:avLst/>
              <a:gdLst/>
              <a:ahLst/>
              <a:cxnLst/>
              <a:rect l="l" t="t" r="r" b="b"/>
              <a:pathLst>
                <a:path w="533400" h="1110614">
                  <a:moveTo>
                    <a:pt x="533273" y="1110549"/>
                  </a:moveTo>
                  <a:lnTo>
                    <a:pt x="460304" y="1103405"/>
                  </a:lnTo>
                  <a:lnTo>
                    <a:pt x="414877" y="1093573"/>
                  </a:lnTo>
                  <a:lnTo>
                    <a:pt x="370908" y="1080100"/>
                  </a:lnTo>
                  <a:lnTo>
                    <a:pt x="328564" y="1063153"/>
                  </a:lnTo>
                  <a:lnTo>
                    <a:pt x="288012" y="1042901"/>
                  </a:lnTo>
                  <a:lnTo>
                    <a:pt x="249419" y="1019510"/>
                  </a:lnTo>
                  <a:lnTo>
                    <a:pt x="212953" y="993150"/>
                  </a:lnTo>
                  <a:lnTo>
                    <a:pt x="178781" y="963988"/>
                  </a:lnTo>
                  <a:lnTo>
                    <a:pt x="147070" y="932192"/>
                  </a:lnTo>
                  <a:lnTo>
                    <a:pt x="117986" y="897930"/>
                  </a:lnTo>
                  <a:lnTo>
                    <a:pt x="91699" y="861370"/>
                  </a:lnTo>
                  <a:lnTo>
                    <a:pt x="68374" y="822680"/>
                  </a:lnTo>
                  <a:lnTo>
                    <a:pt x="48178" y="782028"/>
                  </a:lnTo>
                  <a:lnTo>
                    <a:pt x="31280" y="739581"/>
                  </a:lnTo>
                  <a:lnTo>
                    <a:pt x="17845" y="695508"/>
                  </a:lnTo>
                  <a:lnTo>
                    <a:pt x="8042" y="649977"/>
                  </a:lnTo>
                  <a:lnTo>
                    <a:pt x="2038" y="603156"/>
                  </a:lnTo>
                  <a:lnTo>
                    <a:pt x="0" y="555212"/>
                  </a:lnTo>
                  <a:lnTo>
                    <a:pt x="2038" y="507199"/>
                  </a:lnTo>
                  <a:lnTo>
                    <a:pt x="8042" y="460325"/>
                  </a:lnTo>
                  <a:lnTo>
                    <a:pt x="17845" y="414758"/>
                  </a:lnTo>
                  <a:lnTo>
                    <a:pt x="31280" y="370662"/>
                  </a:lnTo>
                  <a:lnTo>
                    <a:pt x="48178" y="328206"/>
                  </a:lnTo>
                  <a:lnTo>
                    <a:pt x="68374" y="287554"/>
                  </a:lnTo>
                  <a:lnTo>
                    <a:pt x="91699" y="248875"/>
                  </a:lnTo>
                  <a:lnTo>
                    <a:pt x="117986" y="212333"/>
                  </a:lnTo>
                  <a:lnTo>
                    <a:pt x="147070" y="178095"/>
                  </a:lnTo>
                  <a:lnTo>
                    <a:pt x="178781" y="146329"/>
                  </a:lnTo>
                  <a:lnTo>
                    <a:pt x="212953" y="117200"/>
                  </a:lnTo>
                  <a:lnTo>
                    <a:pt x="249419" y="90874"/>
                  </a:lnTo>
                  <a:lnTo>
                    <a:pt x="288012" y="67519"/>
                  </a:lnTo>
                  <a:lnTo>
                    <a:pt x="328564" y="47300"/>
                  </a:lnTo>
                  <a:lnTo>
                    <a:pt x="370908" y="30384"/>
                  </a:lnTo>
                  <a:lnTo>
                    <a:pt x="414877" y="16938"/>
                  </a:lnTo>
                  <a:lnTo>
                    <a:pt x="460304" y="7127"/>
                  </a:lnTo>
                  <a:lnTo>
                    <a:pt x="507022" y="1119"/>
                  </a:lnTo>
                  <a:lnTo>
                    <a:pt x="533273" y="0"/>
                  </a:lnTo>
                </a:path>
              </a:pathLst>
            </a:custGeom>
            <a:ln w="9525">
              <a:solidFill>
                <a:srgbClr val="00C9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83320" y="3547303"/>
              <a:ext cx="360680" cy="762000"/>
            </a:xfrm>
            <a:custGeom>
              <a:avLst/>
              <a:gdLst/>
              <a:ahLst/>
              <a:cxnLst/>
              <a:rect l="l" t="t" r="r" b="b"/>
              <a:pathLst>
                <a:path w="360679" h="762000">
                  <a:moveTo>
                    <a:pt x="360679" y="761736"/>
                  </a:moveTo>
                  <a:lnTo>
                    <a:pt x="288412" y="751446"/>
                  </a:lnTo>
                  <a:lnTo>
                    <a:pt x="244438" y="737441"/>
                  </a:lnTo>
                  <a:lnTo>
                    <a:pt x="202921" y="718449"/>
                  </a:lnTo>
                  <a:lnTo>
                    <a:pt x="164224" y="694827"/>
                  </a:lnTo>
                  <a:lnTo>
                    <a:pt x="128714" y="666928"/>
                  </a:lnTo>
                  <a:lnTo>
                    <a:pt x="96754" y="635108"/>
                  </a:lnTo>
                  <a:lnTo>
                    <a:pt x="68711" y="599722"/>
                  </a:lnTo>
                  <a:lnTo>
                    <a:pt x="44948" y="561125"/>
                  </a:lnTo>
                  <a:lnTo>
                    <a:pt x="25830" y="519673"/>
                  </a:lnTo>
                  <a:lnTo>
                    <a:pt x="11723" y="475720"/>
                  </a:lnTo>
                  <a:lnTo>
                    <a:pt x="2991" y="429622"/>
                  </a:lnTo>
                  <a:lnTo>
                    <a:pt x="0" y="381733"/>
                  </a:lnTo>
                  <a:lnTo>
                    <a:pt x="2991" y="333371"/>
                  </a:lnTo>
                  <a:lnTo>
                    <a:pt x="11723" y="286889"/>
                  </a:lnTo>
                  <a:lnTo>
                    <a:pt x="25830" y="242634"/>
                  </a:lnTo>
                  <a:lnTo>
                    <a:pt x="44948" y="200951"/>
                  </a:lnTo>
                  <a:lnTo>
                    <a:pt x="68711" y="162186"/>
                  </a:lnTo>
                  <a:lnTo>
                    <a:pt x="96754" y="126686"/>
                  </a:lnTo>
                  <a:lnTo>
                    <a:pt x="128714" y="94797"/>
                  </a:lnTo>
                  <a:lnTo>
                    <a:pt x="164224" y="66865"/>
                  </a:lnTo>
                  <a:lnTo>
                    <a:pt x="202921" y="43235"/>
                  </a:lnTo>
                  <a:lnTo>
                    <a:pt x="244438" y="24254"/>
                  </a:lnTo>
                  <a:lnTo>
                    <a:pt x="288412" y="10267"/>
                  </a:lnTo>
                  <a:lnTo>
                    <a:pt x="334478" y="1622"/>
                  </a:lnTo>
                  <a:lnTo>
                    <a:pt x="360679" y="0"/>
                  </a:lnTo>
                </a:path>
              </a:pathLst>
            </a:custGeom>
            <a:ln w="9524">
              <a:solidFill>
                <a:srgbClr val="AEAE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8877300" y="2413000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80">
                <a:moveTo>
                  <a:pt x="20827" y="474980"/>
                </a:moveTo>
                <a:lnTo>
                  <a:pt x="29356" y="473442"/>
                </a:lnTo>
                <a:lnTo>
                  <a:pt x="36480" y="469153"/>
                </a:lnTo>
                <a:lnTo>
                  <a:pt x="41366" y="462603"/>
                </a:lnTo>
                <a:lnTo>
                  <a:pt x="43179" y="454279"/>
                </a:lnTo>
                <a:lnTo>
                  <a:pt x="43179" y="20700"/>
                </a:lnTo>
                <a:lnTo>
                  <a:pt x="41366" y="13126"/>
                </a:lnTo>
                <a:lnTo>
                  <a:pt x="36480" y="6492"/>
                </a:lnTo>
                <a:lnTo>
                  <a:pt x="29356" y="1787"/>
                </a:lnTo>
                <a:lnTo>
                  <a:pt x="20827" y="0"/>
                </a:lnTo>
                <a:lnTo>
                  <a:pt x="13180" y="1787"/>
                </a:lnTo>
                <a:lnTo>
                  <a:pt x="6508" y="6492"/>
                </a:lnTo>
                <a:lnTo>
                  <a:pt x="1789" y="13126"/>
                </a:lnTo>
                <a:lnTo>
                  <a:pt x="0" y="20700"/>
                </a:lnTo>
                <a:lnTo>
                  <a:pt x="0" y="454279"/>
                </a:lnTo>
                <a:lnTo>
                  <a:pt x="1789" y="462603"/>
                </a:lnTo>
                <a:lnTo>
                  <a:pt x="6508" y="469153"/>
                </a:lnTo>
                <a:lnTo>
                  <a:pt x="13180" y="473442"/>
                </a:lnTo>
                <a:lnTo>
                  <a:pt x="20827" y="474980"/>
                </a:lnTo>
                <a:close/>
              </a:path>
            </a:pathLst>
          </a:custGeom>
          <a:ln w="9524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674100" y="1727200"/>
            <a:ext cx="76200" cy="828040"/>
          </a:xfrm>
          <a:custGeom>
            <a:avLst/>
            <a:gdLst/>
            <a:ahLst/>
            <a:cxnLst/>
            <a:rect l="l" t="t" r="r" b="b"/>
            <a:pathLst>
              <a:path w="76200" h="828039">
                <a:moveTo>
                  <a:pt x="39497" y="0"/>
                </a:moveTo>
                <a:lnTo>
                  <a:pt x="24378" y="2690"/>
                </a:lnTo>
                <a:lnTo>
                  <a:pt x="11795" y="10191"/>
                </a:lnTo>
                <a:lnTo>
                  <a:pt x="3188" y="21645"/>
                </a:lnTo>
                <a:lnTo>
                  <a:pt x="0" y="36195"/>
                </a:lnTo>
                <a:lnTo>
                  <a:pt x="0" y="791844"/>
                </a:lnTo>
                <a:lnTo>
                  <a:pt x="3188" y="805088"/>
                </a:lnTo>
                <a:lnTo>
                  <a:pt x="11795" y="816641"/>
                </a:lnTo>
                <a:lnTo>
                  <a:pt x="24378" y="824813"/>
                </a:lnTo>
                <a:lnTo>
                  <a:pt x="39497" y="827913"/>
                </a:lnTo>
                <a:lnTo>
                  <a:pt x="53000" y="824813"/>
                </a:lnTo>
                <a:lnTo>
                  <a:pt x="64754" y="816641"/>
                </a:lnTo>
                <a:lnTo>
                  <a:pt x="73054" y="805088"/>
                </a:lnTo>
                <a:lnTo>
                  <a:pt x="76200" y="791844"/>
                </a:lnTo>
                <a:lnTo>
                  <a:pt x="76200" y="36195"/>
                </a:lnTo>
                <a:lnTo>
                  <a:pt x="73054" y="21645"/>
                </a:lnTo>
                <a:lnTo>
                  <a:pt x="64754" y="10191"/>
                </a:lnTo>
                <a:lnTo>
                  <a:pt x="53000" y="2690"/>
                </a:lnTo>
                <a:lnTo>
                  <a:pt x="39497" y="0"/>
                </a:lnTo>
                <a:close/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0" y="1569719"/>
            <a:ext cx="274320" cy="43180"/>
          </a:xfrm>
          <a:custGeom>
            <a:avLst/>
            <a:gdLst/>
            <a:ahLst/>
            <a:cxnLst/>
            <a:rect l="l" t="t" r="r" b="b"/>
            <a:pathLst>
              <a:path w="274320" h="43180">
                <a:moveTo>
                  <a:pt x="0" y="43179"/>
                </a:moveTo>
                <a:lnTo>
                  <a:pt x="253568" y="43179"/>
                </a:lnTo>
                <a:lnTo>
                  <a:pt x="261167" y="41366"/>
                </a:lnTo>
                <a:lnTo>
                  <a:pt x="267793" y="36480"/>
                </a:lnTo>
                <a:lnTo>
                  <a:pt x="272479" y="29356"/>
                </a:lnTo>
                <a:lnTo>
                  <a:pt x="274256" y="20827"/>
                </a:lnTo>
                <a:lnTo>
                  <a:pt x="272479" y="13180"/>
                </a:lnTo>
                <a:lnTo>
                  <a:pt x="267793" y="6508"/>
                </a:lnTo>
                <a:lnTo>
                  <a:pt x="261167" y="1789"/>
                </a:lnTo>
                <a:lnTo>
                  <a:pt x="253568" y="0"/>
                </a:lnTo>
                <a:lnTo>
                  <a:pt x="0" y="0"/>
                </a:lnTo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9641" y="1366519"/>
            <a:ext cx="828040" cy="76200"/>
          </a:xfrm>
          <a:custGeom>
            <a:avLst/>
            <a:gdLst/>
            <a:ahLst/>
            <a:cxnLst/>
            <a:rect l="l" t="t" r="r" b="b"/>
            <a:pathLst>
              <a:path w="828040" h="76200">
                <a:moveTo>
                  <a:pt x="827938" y="39496"/>
                </a:moveTo>
                <a:lnTo>
                  <a:pt x="825242" y="24378"/>
                </a:lnTo>
                <a:lnTo>
                  <a:pt x="817733" y="11795"/>
                </a:lnTo>
                <a:lnTo>
                  <a:pt x="806282" y="3188"/>
                </a:lnTo>
                <a:lnTo>
                  <a:pt x="791756" y="0"/>
                </a:lnTo>
                <a:lnTo>
                  <a:pt x="36080" y="0"/>
                </a:lnTo>
                <a:lnTo>
                  <a:pt x="22829" y="3188"/>
                </a:lnTo>
                <a:lnTo>
                  <a:pt x="11272" y="11795"/>
                </a:lnTo>
                <a:lnTo>
                  <a:pt x="3099" y="24378"/>
                </a:lnTo>
                <a:lnTo>
                  <a:pt x="0" y="39496"/>
                </a:lnTo>
                <a:lnTo>
                  <a:pt x="3099" y="53000"/>
                </a:lnTo>
                <a:lnTo>
                  <a:pt x="11272" y="64754"/>
                </a:lnTo>
                <a:lnTo>
                  <a:pt x="22829" y="73054"/>
                </a:lnTo>
                <a:lnTo>
                  <a:pt x="36080" y="76200"/>
                </a:lnTo>
                <a:lnTo>
                  <a:pt x="791756" y="76200"/>
                </a:lnTo>
                <a:lnTo>
                  <a:pt x="806282" y="73054"/>
                </a:lnTo>
                <a:lnTo>
                  <a:pt x="817733" y="64754"/>
                </a:lnTo>
                <a:lnTo>
                  <a:pt x="825242" y="53000"/>
                </a:lnTo>
                <a:lnTo>
                  <a:pt x="827938" y="39496"/>
                </a:lnTo>
                <a:close/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35679" y="609600"/>
            <a:ext cx="5316220" cy="1259840"/>
          </a:xfrm>
          <a:custGeom>
            <a:avLst/>
            <a:gdLst/>
            <a:ahLst/>
            <a:cxnLst/>
            <a:rect l="l" t="t" r="r" b="b"/>
            <a:pathLst>
              <a:path w="5316220" h="1259839">
                <a:moveTo>
                  <a:pt x="5316220" y="0"/>
                </a:moveTo>
                <a:lnTo>
                  <a:pt x="0" y="0"/>
                </a:lnTo>
                <a:lnTo>
                  <a:pt x="0" y="1259839"/>
                </a:lnTo>
                <a:lnTo>
                  <a:pt x="5316220" y="1259839"/>
                </a:lnTo>
                <a:lnTo>
                  <a:pt x="5316220" y="0"/>
                </a:lnTo>
                <a:close/>
              </a:path>
            </a:pathLst>
          </a:custGeom>
          <a:solidFill>
            <a:srgbClr val="110D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3826509" y="676275"/>
            <a:ext cx="47339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latin typeface="Times New Roman"/>
                <a:cs typeface="Times New Roman"/>
              </a:rPr>
              <a:t>Neural</a:t>
            </a:r>
            <a:r>
              <a:rPr sz="3200" b="0" spc="-9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Text</a:t>
            </a:r>
            <a:r>
              <a:rPr sz="3200" b="0" spc="-9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Compression:</a:t>
            </a:r>
            <a:r>
              <a:rPr sz="3200" b="0" spc="-45" dirty="0">
                <a:latin typeface="Times New Roman"/>
                <a:cs typeface="Times New Roman"/>
              </a:rPr>
              <a:t> </a:t>
            </a:r>
            <a:r>
              <a:rPr sz="3200" b="0" spc="-50" dirty="0">
                <a:latin typeface="Times New Roman"/>
                <a:cs typeface="Times New Roman"/>
              </a:rPr>
              <a:t>A </a:t>
            </a:r>
            <a:r>
              <a:rPr sz="3200" b="0" dirty="0">
                <a:latin typeface="Times New Roman"/>
                <a:cs typeface="Times New Roman"/>
              </a:rPr>
              <a:t>Hybrid</a:t>
            </a:r>
            <a:r>
              <a:rPr sz="3200" b="0" spc="-4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LSTM</a:t>
            </a:r>
            <a:r>
              <a:rPr sz="3200" b="0" spc="-20" dirty="0">
                <a:latin typeface="Times New Roman"/>
                <a:cs typeface="Times New Roman"/>
              </a:rPr>
              <a:t> </a:t>
            </a:r>
            <a:r>
              <a:rPr sz="3200" b="0" dirty="0">
                <a:latin typeface="Times New Roman"/>
                <a:cs typeface="Times New Roman"/>
              </a:rPr>
              <a:t>+</a:t>
            </a:r>
            <a:r>
              <a:rPr sz="3200" b="0" spc="10" dirty="0">
                <a:latin typeface="Times New Roman"/>
                <a:cs typeface="Times New Roman"/>
              </a:rPr>
              <a:t> </a:t>
            </a:r>
            <a:r>
              <a:rPr sz="3200" b="0" spc="-10" dirty="0">
                <a:latin typeface="Times New Roman"/>
                <a:cs typeface="Times New Roman"/>
              </a:rPr>
              <a:t>Entropy </a:t>
            </a:r>
            <a:r>
              <a:rPr sz="3200" b="0" dirty="0">
                <a:latin typeface="Times New Roman"/>
                <a:cs typeface="Times New Roman"/>
              </a:rPr>
              <a:t>Coding</a:t>
            </a:r>
            <a:r>
              <a:rPr sz="3200" b="0" spc="-10" dirty="0">
                <a:latin typeface="Times New Roman"/>
                <a:cs typeface="Times New Roman"/>
              </a:rPr>
              <a:t> Framework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2859"/>
            <a:ext cx="3388359" cy="5097778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652009" y="3304920"/>
            <a:ext cx="3667125" cy="78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62075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chemeClr val="bg1"/>
                </a:solidFill>
                <a:latin typeface="Times New Roman"/>
                <a:cs typeface="Times New Roman"/>
              </a:rPr>
              <a:t>VIJAYALAKSHMI G – 22MIC0082</a:t>
            </a:r>
          </a:p>
          <a:p>
            <a:pPr marL="12700" marR="1362075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chemeClr val="bg1"/>
                </a:solidFill>
                <a:latin typeface="Times New Roman"/>
                <a:cs typeface="Times New Roman"/>
              </a:rPr>
              <a:t>MYTHILI G – 22MID0301</a:t>
            </a:r>
          </a:p>
          <a:p>
            <a:pPr marL="12700" marR="1362075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chemeClr val="bg1"/>
                </a:solidFill>
                <a:latin typeface="Times New Roman"/>
                <a:cs typeface="Times New Roman"/>
              </a:rPr>
              <a:t>HEMASREE R – 22MID0303</a:t>
            </a:r>
          </a:p>
          <a:p>
            <a:pPr marL="12700" marR="1362075">
              <a:lnSpc>
                <a:spcPct val="100000"/>
              </a:lnSpc>
              <a:spcBef>
                <a:spcPts val="100"/>
              </a:spcBef>
            </a:pPr>
            <a:r>
              <a:rPr lang="en-IN" sz="1200" dirty="0">
                <a:solidFill>
                  <a:schemeClr val="bg1"/>
                </a:solidFill>
                <a:latin typeface="Times New Roman"/>
                <a:cs typeface="Times New Roman"/>
              </a:rPr>
              <a:t>RAMYA M – 22MID0357</a:t>
            </a:r>
            <a:endParaRPr sz="12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10D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41440" y="4747259"/>
            <a:ext cx="474980" cy="43180"/>
          </a:xfrm>
          <a:custGeom>
            <a:avLst/>
            <a:gdLst/>
            <a:ahLst/>
            <a:cxnLst/>
            <a:rect l="l" t="t" r="r" b="b"/>
            <a:pathLst>
              <a:path w="474979" h="43179">
                <a:moveTo>
                  <a:pt x="0" y="22390"/>
                </a:moveTo>
                <a:lnTo>
                  <a:pt x="1537" y="13817"/>
                </a:lnTo>
                <a:lnTo>
                  <a:pt x="5826" y="6684"/>
                </a:lnTo>
                <a:lnTo>
                  <a:pt x="12376" y="1807"/>
                </a:lnTo>
                <a:lnTo>
                  <a:pt x="20700" y="0"/>
                </a:lnTo>
                <a:lnTo>
                  <a:pt x="454279" y="0"/>
                </a:lnTo>
                <a:lnTo>
                  <a:pt x="461853" y="1807"/>
                </a:lnTo>
                <a:lnTo>
                  <a:pt x="468487" y="6684"/>
                </a:lnTo>
                <a:lnTo>
                  <a:pt x="473192" y="13817"/>
                </a:lnTo>
                <a:lnTo>
                  <a:pt x="474980" y="22390"/>
                </a:lnTo>
                <a:lnTo>
                  <a:pt x="473192" y="30037"/>
                </a:lnTo>
                <a:lnTo>
                  <a:pt x="468487" y="36695"/>
                </a:lnTo>
                <a:lnTo>
                  <a:pt x="461853" y="41397"/>
                </a:lnTo>
                <a:lnTo>
                  <a:pt x="454279" y="43179"/>
                </a:lnTo>
                <a:lnTo>
                  <a:pt x="20700" y="43179"/>
                </a:lnTo>
                <a:lnTo>
                  <a:pt x="12376" y="41397"/>
                </a:lnTo>
                <a:lnTo>
                  <a:pt x="5826" y="36695"/>
                </a:lnTo>
                <a:lnTo>
                  <a:pt x="1537" y="30037"/>
                </a:lnTo>
                <a:lnTo>
                  <a:pt x="0" y="22390"/>
                </a:lnTo>
                <a:close/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6751637" y="4427537"/>
            <a:ext cx="2397125" cy="502284"/>
            <a:chOff x="6751637" y="4427537"/>
            <a:chExt cx="2397125" cy="502284"/>
          </a:xfrm>
        </p:grpSpPr>
        <p:sp>
          <p:nvSpPr>
            <p:cNvPr id="5" name="object 5"/>
            <p:cNvSpPr/>
            <p:nvPr/>
          </p:nvSpPr>
          <p:spPr>
            <a:xfrm>
              <a:off x="6835139" y="4881880"/>
              <a:ext cx="474980" cy="43180"/>
            </a:xfrm>
            <a:custGeom>
              <a:avLst/>
              <a:gdLst/>
              <a:ahLst/>
              <a:cxnLst/>
              <a:rect l="l" t="t" r="r" b="b"/>
              <a:pathLst>
                <a:path w="474979" h="43179">
                  <a:moveTo>
                    <a:pt x="0" y="22390"/>
                  </a:moveTo>
                  <a:lnTo>
                    <a:pt x="1537" y="13817"/>
                  </a:lnTo>
                  <a:lnTo>
                    <a:pt x="5826" y="6684"/>
                  </a:lnTo>
                  <a:lnTo>
                    <a:pt x="12376" y="1807"/>
                  </a:lnTo>
                  <a:lnTo>
                    <a:pt x="20700" y="0"/>
                  </a:lnTo>
                  <a:lnTo>
                    <a:pt x="454278" y="0"/>
                  </a:lnTo>
                  <a:lnTo>
                    <a:pt x="461853" y="1807"/>
                  </a:lnTo>
                  <a:lnTo>
                    <a:pt x="468487" y="6684"/>
                  </a:lnTo>
                  <a:lnTo>
                    <a:pt x="473192" y="13817"/>
                  </a:lnTo>
                  <a:lnTo>
                    <a:pt x="474979" y="22390"/>
                  </a:lnTo>
                  <a:lnTo>
                    <a:pt x="473192" y="30037"/>
                  </a:lnTo>
                  <a:lnTo>
                    <a:pt x="468487" y="36695"/>
                  </a:lnTo>
                  <a:lnTo>
                    <a:pt x="461853" y="41397"/>
                  </a:lnTo>
                  <a:lnTo>
                    <a:pt x="454278" y="43180"/>
                  </a:lnTo>
                  <a:lnTo>
                    <a:pt x="20700" y="43180"/>
                  </a:lnTo>
                  <a:lnTo>
                    <a:pt x="12376" y="41397"/>
                  </a:lnTo>
                  <a:lnTo>
                    <a:pt x="5826" y="36695"/>
                  </a:lnTo>
                  <a:lnTo>
                    <a:pt x="1537" y="30037"/>
                  </a:lnTo>
                  <a:lnTo>
                    <a:pt x="0" y="22390"/>
                  </a:lnTo>
                  <a:close/>
                </a:path>
              </a:pathLst>
            </a:custGeom>
            <a:ln w="9525">
              <a:solidFill>
                <a:srgbClr val="696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56400" y="4612639"/>
              <a:ext cx="2387600" cy="312420"/>
            </a:xfrm>
            <a:custGeom>
              <a:avLst/>
              <a:gdLst/>
              <a:ahLst/>
              <a:cxnLst/>
              <a:rect l="l" t="t" r="r" b="b"/>
              <a:pathLst>
                <a:path w="2387600" h="312420">
                  <a:moveTo>
                    <a:pt x="0" y="0"/>
                  </a:moveTo>
                  <a:lnTo>
                    <a:pt x="933830" y="0"/>
                  </a:lnTo>
                  <a:lnTo>
                    <a:pt x="1246124" y="312420"/>
                  </a:lnTo>
                  <a:lnTo>
                    <a:pt x="2387600" y="312420"/>
                  </a:lnTo>
                </a:path>
              </a:pathLst>
            </a:custGeom>
            <a:ln w="9525">
              <a:solidFill>
                <a:srgbClr val="696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4204" y="4427537"/>
              <a:ext cx="184657" cy="187261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259079" y="195579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80">
                <a:moveTo>
                  <a:pt x="22390" y="474980"/>
                </a:moveTo>
                <a:lnTo>
                  <a:pt x="13817" y="473442"/>
                </a:lnTo>
                <a:lnTo>
                  <a:pt x="6684" y="469153"/>
                </a:lnTo>
                <a:lnTo>
                  <a:pt x="1807" y="462603"/>
                </a:lnTo>
                <a:lnTo>
                  <a:pt x="0" y="454279"/>
                </a:lnTo>
                <a:lnTo>
                  <a:pt x="0" y="20700"/>
                </a:lnTo>
                <a:lnTo>
                  <a:pt x="1807" y="13126"/>
                </a:lnTo>
                <a:lnTo>
                  <a:pt x="6684" y="6492"/>
                </a:lnTo>
                <a:lnTo>
                  <a:pt x="13817" y="1787"/>
                </a:lnTo>
                <a:lnTo>
                  <a:pt x="22390" y="0"/>
                </a:lnTo>
                <a:lnTo>
                  <a:pt x="30037" y="1787"/>
                </a:lnTo>
                <a:lnTo>
                  <a:pt x="36695" y="6492"/>
                </a:lnTo>
                <a:lnTo>
                  <a:pt x="41397" y="13126"/>
                </a:lnTo>
                <a:lnTo>
                  <a:pt x="43180" y="20700"/>
                </a:lnTo>
                <a:lnTo>
                  <a:pt x="43180" y="454279"/>
                </a:lnTo>
                <a:lnTo>
                  <a:pt x="41397" y="462603"/>
                </a:lnTo>
                <a:lnTo>
                  <a:pt x="36695" y="469153"/>
                </a:lnTo>
                <a:lnTo>
                  <a:pt x="30037" y="473442"/>
                </a:lnTo>
                <a:lnTo>
                  <a:pt x="22390" y="474980"/>
                </a:lnTo>
                <a:close/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3700" y="408940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80">
                <a:moveTo>
                  <a:pt x="22390" y="474980"/>
                </a:moveTo>
                <a:lnTo>
                  <a:pt x="13817" y="473442"/>
                </a:lnTo>
                <a:lnTo>
                  <a:pt x="6684" y="469153"/>
                </a:lnTo>
                <a:lnTo>
                  <a:pt x="1807" y="462603"/>
                </a:lnTo>
                <a:lnTo>
                  <a:pt x="0" y="454279"/>
                </a:lnTo>
                <a:lnTo>
                  <a:pt x="0" y="20700"/>
                </a:lnTo>
                <a:lnTo>
                  <a:pt x="1807" y="13126"/>
                </a:lnTo>
                <a:lnTo>
                  <a:pt x="6684" y="6492"/>
                </a:lnTo>
                <a:lnTo>
                  <a:pt x="13817" y="1787"/>
                </a:lnTo>
                <a:lnTo>
                  <a:pt x="22390" y="0"/>
                </a:lnTo>
                <a:lnTo>
                  <a:pt x="30037" y="1787"/>
                </a:lnTo>
                <a:lnTo>
                  <a:pt x="36695" y="6492"/>
                </a:lnTo>
                <a:lnTo>
                  <a:pt x="41397" y="13126"/>
                </a:lnTo>
                <a:lnTo>
                  <a:pt x="43179" y="20700"/>
                </a:lnTo>
                <a:lnTo>
                  <a:pt x="43179" y="454279"/>
                </a:lnTo>
                <a:lnTo>
                  <a:pt x="41397" y="462603"/>
                </a:lnTo>
                <a:lnTo>
                  <a:pt x="36695" y="469153"/>
                </a:lnTo>
                <a:lnTo>
                  <a:pt x="30037" y="473442"/>
                </a:lnTo>
                <a:lnTo>
                  <a:pt x="22390" y="474980"/>
                </a:lnTo>
                <a:close/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58986" y="4577156"/>
            <a:ext cx="198120" cy="347980"/>
          </a:xfrm>
          <a:custGeom>
            <a:avLst/>
            <a:gdLst/>
            <a:ahLst/>
            <a:cxnLst/>
            <a:rect l="l" t="t" r="r" b="b"/>
            <a:pathLst>
              <a:path w="198120" h="347979">
                <a:moveTo>
                  <a:pt x="0" y="0"/>
                </a:moveTo>
                <a:lnTo>
                  <a:pt x="197993" y="201167"/>
                </a:lnTo>
                <a:lnTo>
                  <a:pt x="197993" y="347903"/>
                </a:lnTo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-4762" y="-4762"/>
            <a:ext cx="1749425" cy="3919220"/>
            <a:chOff x="-4762" y="-4762"/>
            <a:chExt cx="1749425" cy="3919220"/>
          </a:xfrm>
        </p:grpSpPr>
        <p:sp>
          <p:nvSpPr>
            <p:cNvPr id="12" name="object 12"/>
            <p:cNvSpPr/>
            <p:nvPr/>
          </p:nvSpPr>
          <p:spPr>
            <a:xfrm>
              <a:off x="0" y="0"/>
              <a:ext cx="1739900" cy="3909695"/>
            </a:xfrm>
            <a:custGeom>
              <a:avLst/>
              <a:gdLst/>
              <a:ahLst/>
              <a:cxnLst/>
              <a:rect l="l" t="t" r="r" b="b"/>
              <a:pathLst>
                <a:path w="1739900" h="3909695">
                  <a:moveTo>
                    <a:pt x="0" y="3909211"/>
                  </a:moveTo>
                  <a:lnTo>
                    <a:pt x="662393" y="3247390"/>
                  </a:lnTo>
                  <a:lnTo>
                    <a:pt x="662393" y="1173861"/>
                  </a:lnTo>
                  <a:lnTo>
                    <a:pt x="1739900" y="552323"/>
                  </a:lnTo>
                  <a:lnTo>
                    <a:pt x="1739900" y="0"/>
                  </a:lnTo>
                </a:path>
              </a:pathLst>
            </a:custGeom>
            <a:ln w="9525">
              <a:solidFill>
                <a:srgbClr val="696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2940" y="2964179"/>
              <a:ext cx="347980" cy="198120"/>
            </a:xfrm>
            <a:custGeom>
              <a:avLst/>
              <a:gdLst/>
              <a:ahLst/>
              <a:cxnLst/>
              <a:rect l="l" t="t" r="r" b="b"/>
              <a:pathLst>
                <a:path w="347980" h="198119">
                  <a:moveTo>
                    <a:pt x="347903" y="197993"/>
                  </a:moveTo>
                  <a:lnTo>
                    <a:pt x="146735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696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200" y="3139757"/>
              <a:ext cx="187261" cy="18465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1742757"/>
              <a:ext cx="661670" cy="78105"/>
            </a:xfrm>
            <a:custGeom>
              <a:avLst/>
              <a:gdLst/>
              <a:ahLst/>
              <a:cxnLst/>
              <a:rect l="l" t="t" r="r" b="b"/>
              <a:pathLst>
                <a:path w="661670" h="78105">
                  <a:moveTo>
                    <a:pt x="661466" y="68580"/>
                  </a:moveTo>
                  <a:lnTo>
                    <a:pt x="0" y="68580"/>
                  </a:lnTo>
                  <a:lnTo>
                    <a:pt x="0" y="78105"/>
                  </a:lnTo>
                  <a:lnTo>
                    <a:pt x="661466" y="78105"/>
                  </a:lnTo>
                  <a:lnTo>
                    <a:pt x="661466" y="68580"/>
                  </a:lnTo>
                  <a:close/>
                </a:path>
                <a:path w="661670" h="78105">
                  <a:moveTo>
                    <a:pt x="661466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661466" y="9525"/>
                  </a:lnTo>
                  <a:lnTo>
                    <a:pt x="661466" y="0"/>
                  </a:lnTo>
                  <a:close/>
                </a:path>
              </a:pathLst>
            </a:custGeom>
            <a:solidFill>
              <a:srgbClr val="6962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0" y="1879917"/>
            <a:ext cx="661670" cy="9525"/>
          </a:xfrm>
          <a:custGeom>
            <a:avLst/>
            <a:gdLst/>
            <a:ahLst/>
            <a:cxnLst/>
            <a:rect l="l" t="t" r="r" b="b"/>
            <a:pathLst>
              <a:path w="661670" h="9525">
                <a:moveTo>
                  <a:pt x="661466" y="0"/>
                </a:moveTo>
                <a:lnTo>
                  <a:pt x="0" y="0"/>
                </a:lnTo>
                <a:lnTo>
                  <a:pt x="0" y="9525"/>
                </a:lnTo>
                <a:lnTo>
                  <a:pt x="661466" y="9525"/>
                </a:lnTo>
                <a:lnTo>
                  <a:pt x="661466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1948497"/>
            <a:ext cx="661670" cy="9525"/>
          </a:xfrm>
          <a:custGeom>
            <a:avLst/>
            <a:gdLst/>
            <a:ahLst/>
            <a:cxnLst/>
            <a:rect l="l" t="t" r="r" b="b"/>
            <a:pathLst>
              <a:path w="661670" h="9525">
                <a:moveTo>
                  <a:pt x="661466" y="0"/>
                </a:moveTo>
                <a:lnTo>
                  <a:pt x="0" y="0"/>
                </a:lnTo>
                <a:lnTo>
                  <a:pt x="0" y="9525"/>
                </a:lnTo>
                <a:lnTo>
                  <a:pt x="661466" y="9525"/>
                </a:lnTo>
                <a:lnTo>
                  <a:pt x="661466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2017077"/>
            <a:ext cx="661670" cy="9525"/>
          </a:xfrm>
          <a:custGeom>
            <a:avLst/>
            <a:gdLst/>
            <a:ahLst/>
            <a:cxnLst/>
            <a:rect l="l" t="t" r="r" b="b"/>
            <a:pathLst>
              <a:path w="661670" h="9525">
                <a:moveTo>
                  <a:pt x="661466" y="0"/>
                </a:moveTo>
                <a:lnTo>
                  <a:pt x="0" y="0"/>
                </a:lnTo>
                <a:lnTo>
                  <a:pt x="0" y="9525"/>
                </a:lnTo>
                <a:lnTo>
                  <a:pt x="661466" y="9525"/>
                </a:lnTo>
                <a:lnTo>
                  <a:pt x="661466" y="0"/>
                </a:lnTo>
                <a:close/>
              </a:path>
            </a:pathLst>
          </a:custGeom>
          <a:solidFill>
            <a:srgbClr val="6962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82380" y="4010698"/>
            <a:ext cx="40640" cy="439420"/>
          </a:xfrm>
          <a:custGeom>
            <a:avLst/>
            <a:gdLst/>
            <a:ahLst/>
            <a:cxnLst/>
            <a:rect l="l" t="t" r="r" b="b"/>
            <a:pathLst>
              <a:path w="40640" h="439420">
                <a:moveTo>
                  <a:pt x="20320" y="0"/>
                </a:moveTo>
                <a:lnTo>
                  <a:pt x="12590" y="1624"/>
                </a:lnTo>
                <a:lnTo>
                  <a:pt x="6111" y="5994"/>
                </a:lnTo>
                <a:lnTo>
                  <a:pt x="1656" y="12355"/>
                </a:lnTo>
                <a:lnTo>
                  <a:pt x="0" y="19951"/>
                </a:lnTo>
                <a:lnTo>
                  <a:pt x="0" y="419430"/>
                </a:lnTo>
                <a:lnTo>
                  <a:pt x="1656" y="427433"/>
                </a:lnTo>
                <a:lnTo>
                  <a:pt x="6111" y="433735"/>
                </a:lnTo>
                <a:lnTo>
                  <a:pt x="12590" y="437862"/>
                </a:lnTo>
                <a:lnTo>
                  <a:pt x="20320" y="439343"/>
                </a:lnTo>
                <a:lnTo>
                  <a:pt x="28477" y="437862"/>
                </a:lnTo>
                <a:lnTo>
                  <a:pt x="34909" y="433735"/>
                </a:lnTo>
                <a:lnTo>
                  <a:pt x="39125" y="427433"/>
                </a:lnTo>
                <a:lnTo>
                  <a:pt x="40640" y="419430"/>
                </a:lnTo>
                <a:lnTo>
                  <a:pt x="40640" y="19951"/>
                </a:lnTo>
                <a:lnTo>
                  <a:pt x="39125" y="12355"/>
                </a:lnTo>
                <a:lnTo>
                  <a:pt x="34909" y="5994"/>
                </a:lnTo>
                <a:lnTo>
                  <a:pt x="28477" y="1624"/>
                </a:lnTo>
                <a:lnTo>
                  <a:pt x="20320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9600" y="0"/>
            <a:ext cx="40640" cy="327660"/>
          </a:xfrm>
          <a:custGeom>
            <a:avLst/>
            <a:gdLst/>
            <a:ahLst/>
            <a:cxnLst/>
            <a:rect l="l" t="t" r="r" b="b"/>
            <a:pathLst>
              <a:path w="40640" h="327660">
                <a:moveTo>
                  <a:pt x="40601" y="0"/>
                </a:moveTo>
                <a:lnTo>
                  <a:pt x="0" y="0"/>
                </a:lnTo>
                <a:lnTo>
                  <a:pt x="0" y="307594"/>
                </a:lnTo>
                <a:lnTo>
                  <a:pt x="1653" y="315658"/>
                </a:lnTo>
                <a:lnTo>
                  <a:pt x="6102" y="322008"/>
                </a:lnTo>
                <a:lnTo>
                  <a:pt x="12580" y="326167"/>
                </a:lnTo>
                <a:lnTo>
                  <a:pt x="20320" y="327660"/>
                </a:lnTo>
                <a:lnTo>
                  <a:pt x="28471" y="326167"/>
                </a:lnTo>
                <a:lnTo>
                  <a:pt x="34890" y="322008"/>
                </a:lnTo>
                <a:lnTo>
                  <a:pt x="39093" y="315658"/>
                </a:lnTo>
                <a:lnTo>
                  <a:pt x="40601" y="307594"/>
                </a:lnTo>
                <a:lnTo>
                  <a:pt x="40601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5176" rIns="0" bIns="0" rtlCol="0">
            <a:spAutoFit/>
          </a:bodyPr>
          <a:lstStyle/>
          <a:p>
            <a:pPr marL="107569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GOAL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861820" y="1678304"/>
            <a:ext cx="265684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Build</a:t>
            </a:r>
            <a:r>
              <a:rPr sz="18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8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Arial MT"/>
                <a:cs typeface="Arial MT"/>
              </a:rPr>
              <a:t>AI-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powered</a:t>
            </a:r>
            <a:r>
              <a:rPr sz="1800" spc="40" dirty="0">
                <a:solidFill>
                  <a:srgbClr val="FFFFFF"/>
                </a:solidFill>
                <a:latin typeface="Arial MT"/>
                <a:cs typeface="Arial MT"/>
              </a:rPr>
              <a:t> text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compression system</a:t>
            </a:r>
            <a:r>
              <a:rPr sz="18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that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learns</a:t>
            </a:r>
            <a:r>
              <a:rPr sz="18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character 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probability</a:t>
            </a:r>
            <a:r>
              <a:rPr sz="1800" spc="2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patterns</a:t>
            </a:r>
            <a:r>
              <a:rPr sz="1800" spc="2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compresses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more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efficiently</a:t>
            </a:r>
            <a:r>
              <a:rPr sz="1800" spc="1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than</a:t>
            </a:r>
            <a:r>
              <a:rPr sz="1800" spc="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traditional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Huffman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coding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52340" y="822960"/>
            <a:ext cx="2786380" cy="3558540"/>
            <a:chOff x="4752340" y="822960"/>
            <a:chExt cx="2786380" cy="355854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2340" y="822960"/>
              <a:ext cx="2786380" cy="355854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752340" y="4203700"/>
              <a:ext cx="2786380" cy="177800"/>
            </a:xfrm>
            <a:custGeom>
              <a:avLst/>
              <a:gdLst/>
              <a:ahLst/>
              <a:cxnLst/>
              <a:rect l="l" t="t" r="r" b="b"/>
              <a:pathLst>
                <a:path w="2786379" h="177800">
                  <a:moveTo>
                    <a:pt x="2786380" y="0"/>
                  </a:moveTo>
                  <a:lnTo>
                    <a:pt x="0" y="0"/>
                  </a:lnTo>
                  <a:lnTo>
                    <a:pt x="0" y="177800"/>
                  </a:lnTo>
                  <a:lnTo>
                    <a:pt x="2786380" y="177800"/>
                  </a:lnTo>
                  <a:lnTo>
                    <a:pt x="2786380" y="0"/>
                  </a:lnTo>
                  <a:close/>
                </a:path>
              </a:pathLst>
            </a:custGeom>
            <a:solidFill>
              <a:srgbClr val="00C9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/>
          <p:nvPr/>
        </p:nvSpPr>
        <p:spPr>
          <a:xfrm>
            <a:off x="1508760" y="822960"/>
            <a:ext cx="198120" cy="228600"/>
          </a:xfrm>
          <a:custGeom>
            <a:avLst/>
            <a:gdLst/>
            <a:ahLst/>
            <a:cxnLst/>
            <a:rect l="l" t="t" r="r" b="b"/>
            <a:pathLst>
              <a:path w="198119" h="228600">
                <a:moveTo>
                  <a:pt x="0" y="0"/>
                </a:moveTo>
                <a:lnTo>
                  <a:pt x="0" y="228600"/>
                </a:lnTo>
                <a:lnTo>
                  <a:pt x="19812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00C9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10D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441440" y="4747259"/>
            <a:ext cx="474980" cy="43180"/>
          </a:xfrm>
          <a:custGeom>
            <a:avLst/>
            <a:gdLst/>
            <a:ahLst/>
            <a:cxnLst/>
            <a:rect l="l" t="t" r="r" b="b"/>
            <a:pathLst>
              <a:path w="474979" h="43179">
                <a:moveTo>
                  <a:pt x="0" y="22390"/>
                </a:moveTo>
                <a:lnTo>
                  <a:pt x="1537" y="13817"/>
                </a:lnTo>
                <a:lnTo>
                  <a:pt x="5826" y="6684"/>
                </a:lnTo>
                <a:lnTo>
                  <a:pt x="12376" y="1807"/>
                </a:lnTo>
                <a:lnTo>
                  <a:pt x="20700" y="0"/>
                </a:lnTo>
                <a:lnTo>
                  <a:pt x="454279" y="0"/>
                </a:lnTo>
                <a:lnTo>
                  <a:pt x="461853" y="1807"/>
                </a:lnTo>
                <a:lnTo>
                  <a:pt x="468487" y="6684"/>
                </a:lnTo>
                <a:lnTo>
                  <a:pt x="473192" y="13817"/>
                </a:lnTo>
                <a:lnTo>
                  <a:pt x="474980" y="22390"/>
                </a:lnTo>
                <a:lnTo>
                  <a:pt x="473192" y="30037"/>
                </a:lnTo>
                <a:lnTo>
                  <a:pt x="468487" y="36695"/>
                </a:lnTo>
                <a:lnTo>
                  <a:pt x="461853" y="41397"/>
                </a:lnTo>
                <a:lnTo>
                  <a:pt x="454279" y="43179"/>
                </a:lnTo>
                <a:lnTo>
                  <a:pt x="20700" y="43179"/>
                </a:lnTo>
                <a:lnTo>
                  <a:pt x="12376" y="41397"/>
                </a:lnTo>
                <a:lnTo>
                  <a:pt x="5826" y="36695"/>
                </a:lnTo>
                <a:lnTo>
                  <a:pt x="1537" y="30037"/>
                </a:lnTo>
                <a:lnTo>
                  <a:pt x="0" y="22390"/>
                </a:lnTo>
                <a:close/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35140" y="4881879"/>
            <a:ext cx="474980" cy="43180"/>
          </a:xfrm>
          <a:custGeom>
            <a:avLst/>
            <a:gdLst/>
            <a:ahLst/>
            <a:cxnLst/>
            <a:rect l="l" t="t" r="r" b="b"/>
            <a:pathLst>
              <a:path w="474979" h="43179">
                <a:moveTo>
                  <a:pt x="0" y="22390"/>
                </a:moveTo>
                <a:lnTo>
                  <a:pt x="1537" y="13817"/>
                </a:lnTo>
                <a:lnTo>
                  <a:pt x="5826" y="6684"/>
                </a:lnTo>
                <a:lnTo>
                  <a:pt x="12376" y="1807"/>
                </a:lnTo>
                <a:lnTo>
                  <a:pt x="20700" y="0"/>
                </a:lnTo>
                <a:lnTo>
                  <a:pt x="454278" y="0"/>
                </a:lnTo>
                <a:lnTo>
                  <a:pt x="461853" y="1807"/>
                </a:lnTo>
                <a:lnTo>
                  <a:pt x="468487" y="6684"/>
                </a:lnTo>
                <a:lnTo>
                  <a:pt x="473192" y="13817"/>
                </a:lnTo>
                <a:lnTo>
                  <a:pt x="474979" y="22390"/>
                </a:lnTo>
                <a:lnTo>
                  <a:pt x="473192" y="30037"/>
                </a:lnTo>
                <a:lnTo>
                  <a:pt x="468487" y="36695"/>
                </a:lnTo>
                <a:lnTo>
                  <a:pt x="461853" y="41397"/>
                </a:lnTo>
                <a:lnTo>
                  <a:pt x="454278" y="43180"/>
                </a:lnTo>
                <a:lnTo>
                  <a:pt x="20700" y="43180"/>
                </a:lnTo>
                <a:lnTo>
                  <a:pt x="12376" y="41397"/>
                </a:lnTo>
                <a:lnTo>
                  <a:pt x="5826" y="36695"/>
                </a:lnTo>
                <a:lnTo>
                  <a:pt x="1537" y="30037"/>
                </a:lnTo>
                <a:lnTo>
                  <a:pt x="0" y="22390"/>
                </a:lnTo>
                <a:close/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59079" y="195579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80">
                <a:moveTo>
                  <a:pt x="22390" y="474980"/>
                </a:moveTo>
                <a:lnTo>
                  <a:pt x="13817" y="473442"/>
                </a:lnTo>
                <a:lnTo>
                  <a:pt x="6684" y="469153"/>
                </a:lnTo>
                <a:lnTo>
                  <a:pt x="1807" y="462603"/>
                </a:lnTo>
                <a:lnTo>
                  <a:pt x="0" y="454279"/>
                </a:lnTo>
                <a:lnTo>
                  <a:pt x="0" y="20700"/>
                </a:lnTo>
                <a:lnTo>
                  <a:pt x="1807" y="13126"/>
                </a:lnTo>
                <a:lnTo>
                  <a:pt x="6684" y="6492"/>
                </a:lnTo>
                <a:lnTo>
                  <a:pt x="13817" y="1787"/>
                </a:lnTo>
                <a:lnTo>
                  <a:pt x="22390" y="0"/>
                </a:lnTo>
                <a:lnTo>
                  <a:pt x="30037" y="1787"/>
                </a:lnTo>
                <a:lnTo>
                  <a:pt x="36695" y="6492"/>
                </a:lnTo>
                <a:lnTo>
                  <a:pt x="41397" y="13126"/>
                </a:lnTo>
                <a:lnTo>
                  <a:pt x="43180" y="20700"/>
                </a:lnTo>
                <a:lnTo>
                  <a:pt x="43180" y="454279"/>
                </a:lnTo>
                <a:lnTo>
                  <a:pt x="41397" y="462603"/>
                </a:lnTo>
                <a:lnTo>
                  <a:pt x="36695" y="469153"/>
                </a:lnTo>
                <a:lnTo>
                  <a:pt x="30037" y="473442"/>
                </a:lnTo>
                <a:lnTo>
                  <a:pt x="22390" y="474980"/>
                </a:lnTo>
                <a:close/>
              </a:path>
            </a:pathLst>
          </a:custGeom>
          <a:ln w="9525">
            <a:solidFill>
              <a:srgbClr val="00C9D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3700" y="408940"/>
            <a:ext cx="43180" cy="474980"/>
          </a:xfrm>
          <a:custGeom>
            <a:avLst/>
            <a:gdLst/>
            <a:ahLst/>
            <a:cxnLst/>
            <a:rect l="l" t="t" r="r" b="b"/>
            <a:pathLst>
              <a:path w="43179" h="474980">
                <a:moveTo>
                  <a:pt x="22390" y="474980"/>
                </a:moveTo>
                <a:lnTo>
                  <a:pt x="13817" y="473442"/>
                </a:lnTo>
                <a:lnTo>
                  <a:pt x="6684" y="469153"/>
                </a:lnTo>
                <a:lnTo>
                  <a:pt x="1807" y="462603"/>
                </a:lnTo>
                <a:lnTo>
                  <a:pt x="0" y="454279"/>
                </a:lnTo>
                <a:lnTo>
                  <a:pt x="0" y="20700"/>
                </a:lnTo>
                <a:lnTo>
                  <a:pt x="1807" y="13126"/>
                </a:lnTo>
                <a:lnTo>
                  <a:pt x="6684" y="6492"/>
                </a:lnTo>
                <a:lnTo>
                  <a:pt x="13817" y="1787"/>
                </a:lnTo>
                <a:lnTo>
                  <a:pt x="22390" y="0"/>
                </a:lnTo>
                <a:lnTo>
                  <a:pt x="30037" y="1787"/>
                </a:lnTo>
                <a:lnTo>
                  <a:pt x="36695" y="6492"/>
                </a:lnTo>
                <a:lnTo>
                  <a:pt x="41397" y="13126"/>
                </a:lnTo>
                <a:lnTo>
                  <a:pt x="43179" y="20700"/>
                </a:lnTo>
                <a:lnTo>
                  <a:pt x="43179" y="454279"/>
                </a:lnTo>
                <a:lnTo>
                  <a:pt x="41397" y="462603"/>
                </a:lnTo>
                <a:lnTo>
                  <a:pt x="36695" y="469153"/>
                </a:lnTo>
                <a:lnTo>
                  <a:pt x="30037" y="473442"/>
                </a:lnTo>
                <a:lnTo>
                  <a:pt x="22390" y="474980"/>
                </a:lnTo>
                <a:close/>
              </a:path>
            </a:pathLst>
          </a:custGeom>
          <a:ln w="9525">
            <a:solidFill>
              <a:srgbClr val="6962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751637" y="4427537"/>
            <a:ext cx="2397125" cy="502284"/>
            <a:chOff x="6751637" y="4427537"/>
            <a:chExt cx="2397125" cy="502284"/>
          </a:xfrm>
        </p:grpSpPr>
        <p:sp>
          <p:nvSpPr>
            <p:cNvPr id="8" name="object 8"/>
            <p:cNvSpPr/>
            <p:nvPr/>
          </p:nvSpPr>
          <p:spPr>
            <a:xfrm>
              <a:off x="6756400" y="4612639"/>
              <a:ext cx="2387600" cy="312420"/>
            </a:xfrm>
            <a:custGeom>
              <a:avLst/>
              <a:gdLst/>
              <a:ahLst/>
              <a:cxnLst/>
              <a:rect l="l" t="t" r="r" b="b"/>
              <a:pathLst>
                <a:path w="2387600" h="312420">
                  <a:moveTo>
                    <a:pt x="0" y="0"/>
                  </a:moveTo>
                  <a:lnTo>
                    <a:pt x="933830" y="0"/>
                  </a:lnTo>
                  <a:lnTo>
                    <a:pt x="1246124" y="312420"/>
                  </a:lnTo>
                  <a:lnTo>
                    <a:pt x="2387600" y="312420"/>
                  </a:lnTo>
                </a:path>
              </a:pathLst>
            </a:custGeom>
            <a:ln w="9525">
              <a:solidFill>
                <a:srgbClr val="696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58986" y="4577156"/>
              <a:ext cx="198120" cy="347980"/>
            </a:xfrm>
            <a:custGeom>
              <a:avLst/>
              <a:gdLst/>
              <a:ahLst/>
              <a:cxnLst/>
              <a:rect l="l" t="t" r="r" b="b"/>
              <a:pathLst>
                <a:path w="198120" h="347979">
                  <a:moveTo>
                    <a:pt x="0" y="0"/>
                  </a:moveTo>
                  <a:lnTo>
                    <a:pt x="197993" y="201167"/>
                  </a:lnTo>
                  <a:lnTo>
                    <a:pt x="197993" y="347903"/>
                  </a:lnTo>
                </a:path>
              </a:pathLst>
            </a:custGeom>
            <a:ln w="9525">
              <a:solidFill>
                <a:srgbClr val="696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94204" y="4427537"/>
              <a:ext cx="184657" cy="187261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-4762" y="-4762"/>
            <a:ext cx="1749425" cy="3919220"/>
            <a:chOff x="-4762" y="-4762"/>
            <a:chExt cx="1749425" cy="3919220"/>
          </a:xfrm>
        </p:grpSpPr>
        <p:sp>
          <p:nvSpPr>
            <p:cNvPr id="12" name="object 12"/>
            <p:cNvSpPr/>
            <p:nvPr/>
          </p:nvSpPr>
          <p:spPr>
            <a:xfrm>
              <a:off x="0" y="0"/>
              <a:ext cx="1739900" cy="3909695"/>
            </a:xfrm>
            <a:custGeom>
              <a:avLst/>
              <a:gdLst/>
              <a:ahLst/>
              <a:cxnLst/>
              <a:rect l="l" t="t" r="r" b="b"/>
              <a:pathLst>
                <a:path w="1739900" h="3909695">
                  <a:moveTo>
                    <a:pt x="0" y="3909211"/>
                  </a:moveTo>
                  <a:lnTo>
                    <a:pt x="662393" y="3247390"/>
                  </a:lnTo>
                  <a:lnTo>
                    <a:pt x="662393" y="1173861"/>
                  </a:lnTo>
                  <a:lnTo>
                    <a:pt x="1739900" y="552323"/>
                  </a:lnTo>
                  <a:lnTo>
                    <a:pt x="1739900" y="0"/>
                  </a:lnTo>
                </a:path>
              </a:pathLst>
            </a:custGeom>
            <a:ln w="9525">
              <a:solidFill>
                <a:srgbClr val="696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2940" y="2964179"/>
              <a:ext cx="347980" cy="198120"/>
            </a:xfrm>
            <a:custGeom>
              <a:avLst/>
              <a:gdLst/>
              <a:ahLst/>
              <a:cxnLst/>
              <a:rect l="l" t="t" r="r" b="b"/>
              <a:pathLst>
                <a:path w="347980" h="198119">
                  <a:moveTo>
                    <a:pt x="347903" y="197993"/>
                  </a:moveTo>
                  <a:lnTo>
                    <a:pt x="146735" y="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6962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3200" y="3139757"/>
              <a:ext cx="187261" cy="18465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0" y="1742757"/>
              <a:ext cx="661670" cy="283845"/>
            </a:xfrm>
            <a:custGeom>
              <a:avLst/>
              <a:gdLst/>
              <a:ahLst/>
              <a:cxnLst/>
              <a:rect l="l" t="t" r="r" b="b"/>
              <a:pathLst>
                <a:path w="661670" h="283844">
                  <a:moveTo>
                    <a:pt x="661466" y="274320"/>
                  </a:moveTo>
                  <a:lnTo>
                    <a:pt x="0" y="274320"/>
                  </a:lnTo>
                  <a:lnTo>
                    <a:pt x="0" y="283845"/>
                  </a:lnTo>
                  <a:lnTo>
                    <a:pt x="661466" y="283845"/>
                  </a:lnTo>
                  <a:lnTo>
                    <a:pt x="661466" y="274320"/>
                  </a:lnTo>
                  <a:close/>
                </a:path>
                <a:path w="661670" h="283844">
                  <a:moveTo>
                    <a:pt x="661466" y="205740"/>
                  </a:moveTo>
                  <a:lnTo>
                    <a:pt x="0" y="205740"/>
                  </a:lnTo>
                  <a:lnTo>
                    <a:pt x="0" y="215265"/>
                  </a:lnTo>
                  <a:lnTo>
                    <a:pt x="661466" y="215265"/>
                  </a:lnTo>
                  <a:lnTo>
                    <a:pt x="661466" y="205740"/>
                  </a:lnTo>
                  <a:close/>
                </a:path>
                <a:path w="661670" h="283844">
                  <a:moveTo>
                    <a:pt x="661466" y="137160"/>
                  </a:moveTo>
                  <a:lnTo>
                    <a:pt x="0" y="137160"/>
                  </a:lnTo>
                  <a:lnTo>
                    <a:pt x="0" y="146685"/>
                  </a:lnTo>
                  <a:lnTo>
                    <a:pt x="661466" y="146685"/>
                  </a:lnTo>
                  <a:lnTo>
                    <a:pt x="661466" y="137160"/>
                  </a:lnTo>
                  <a:close/>
                </a:path>
                <a:path w="661670" h="283844">
                  <a:moveTo>
                    <a:pt x="661466" y="68580"/>
                  </a:moveTo>
                  <a:lnTo>
                    <a:pt x="0" y="68580"/>
                  </a:lnTo>
                  <a:lnTo>
                    <a:pt x="0" y="78105"/>
                  </a:lnTo>
                  <a:lnTo>
                    <a:pt x="661466" y="78105"/>
                  </a:lnTo>
                  <a:lnTo>
                    <a:pt x="661466" y="68580"/>
                  </a:lnTo>
                  <a:close/>
                </a:path>
                <a:path w="661670" h="283844">
                  <a:moveTo>
                    <a:pt x="661466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661466" y="9525"/>
                  </a:lnTo>
                  <a:lnTo>
                    <a:pt x="661466" y="0"/>
                  </a:lnTo>
                  <a:close/>
                </a:path>
              </a:pathLst>
            </a:custGeom>
            <a:solidFill>
              <a:srgbClr val="6962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8882380" y="4010698"/>
            <a:ext cx="40640" cy="439420"/>
          </a:xfrm>
          <a:custGeom>
            <a:avLst/>
            <a:gdLst/>
            <a:ahLst/>
            <a:cxnLst/>
            <a:rect l="l" t="t" r="r" b="b"/>
            <a:pathLst>
              <a:path w="40640" h="439420">
                <a:moveTo>
                  <a:pt x="20320" y="0"/>
                </a:moveTo>
                <a:lnTo>
                  <a:pt x="12590" y="1624"/>
                </a:lnTo>
                <a:lnTo>
                  <a:pt x="6111" y="5994"/>
                </a:lnTo>
                <a:lnTo>
                  <a:pt x="1656" y="12355"/>
                </a:lnTo>
                <a:lnTo>
                  <a:pt x="0" y="19951"/>
                </a:lnTo>
                <a:lnTo>
                  <a:pt x="0" y="419430"/>
                </a:lnTo>
                <a:lnTo>
                  <a:pt x="1656" y="427433"/>
                </a:lnTo>
                <a:lnTo>
                  <a:pt x="6111" y="433735"/>
                </a:lnTo>
                <a:lnTo>
                  <a:pt x="12590" y="437862"/>
                </a:lnTo>
                <a:lnTo>
                  <a:pt x="20320" y="439343"/>
                </a:lnTo>
                <a:lnTo>
                  <a:pt x="28477" y="437862"/>
                </a:lnTo>
                <a:lnTo>
                  <a:pt x="34909" y="433735"/>
                </a:lnTo>
                <a:lnTo>
                  <a:pt x="39125" y="427433"/>
                </a:lnTo>
                <a:lnTo>
                  <a:pt x="40640" y="419430"/>
                </a:lnTo>
                <a:lnTo>
                  <a:pt x="40640" y="19951"/>
                </a:lnTo>
                <a:lnTo>
                  <a:pt x="39125" y="12355"/>
                </a:lnTo>
                <a:lnTo>
                  <a:pt x="34909" y="5994"/>
                </a:lnTo>
                <a:lnTo>
                  <a:pt x="28477" y="1624"/>
                </a:lnTo>
                <a:lnTo>
                  <a:pt x="20320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9600" y="0"/>
            <a:ext cx="40640" cy="327660"/>
          </a:xfrm>
          <a:custGeom>
            <a:avLst/>
            <a:gdLst/>
            <a:ahLst/>
            <a:cxnLst/>
            <a:rect l="l" t="t" r="r" b="b"/>
            <a:pathLst>
              <a:path w="40640" h="327660">
                <a:moveTo>
                  <a:pt x="40601" y="0"/>
                </a:moveTo>
                <a:lnTo>
                  <a:pt x="0" y="0"/>
                </a:lnTo>
                <a:lnTo>
                  <a:pt x="0" y="307594"/>
                </a:lnTo>
                <a:lnTo>
                  <a:pt x="1653" y="315658"/>
                </a:lnTo>
                <a:lnTo>
                  <a:pt x="6102" y="322008"/>
                </a:lnTo>
                <a:lnTo>
                  <a:pt x="12580" y="326167"/>
                </a:lnTo>
                <a:lnTo>
                  <a:pt x="20320" y="327660"/>
                </a:lnTo>
                <a:lnTo>
                  <a:pt x="28471" y="326167"/>
                </a:lnTo>
                <a:lnTo>
                  <a:pt x="34890" y="322008"/>
                </a:lnTo>
                <a:lnTo>
                  <a:pt x="39093" y="315658"/>
                </a:lnTo>
                <a:lnTo>
                  <a:pt x="40601" y="307594"/>
                </a:lnTo>
                <a:lnTo>
                  <a:pt x="40601" y="0"/>
                </a:lnTo>
                <a:close/>
              </a:path>
            </a:pathLst>
          </a:custGeom>
          <a:solidFill>
            <a:srgbClr val="AEAE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294" rIns="0" bIns="0" rtlCol="0">
            <a:spAutoFit/>
          </a:bodyPr>
          <a:lstStyle/>
          <a:p>
            <a:pPr marL="1170305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Main</a:t>
            </a:r>
            <a:r>
              <a:rPr spc="-190" dirty="0"/>
              <a:t> </a:t>
            </a:r>
            <a:r>
              <a:rPr spc="60" dirty="0"/>
              <a:t>Features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81075" y="1436941"/>
            <a:ext cx="4801870" cy="2770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indent="-192405">
              <a:lnSpc>
                <a:spcPct val="100000"/>
              </a:lnSpc>
              <a:spcBef>
                <a:spcPts val="100"/>
              </a:spcBef>
              <a:buSzPct val="94444"/>
              <a:buAutoNum type="arabicParenR"/>
              <a:tabLst>
                <a:tab pos="20320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Patter</a:t>
            </a:r>
            <a:r>
              <a:rPr sz="18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800">
              <a:latin typeface="Times New Roman"/>
              <a:cs typeface="Times New Roman"/>
            </a:endParaRPr>
          </a:p>
          <a:p>
            <a:pPr marL="358140" lvl="1" indent="-345440">
              <a:lnSpc>
                <a:spcPct val="100000"/>
              </a:lnSpc>
              <a:spcBef>
                <a:spcPts val="5"/>
              </a:spcBef>
              <a:buClr>
                <a:srgbClr val="00C9DA"/>
              </a:buClr>
              <a:buSzPct val="66666"/>
              <a:buFont typeface="Arial MT"/>
              <a:buChar char="•"/>
              <a:tabLst>
                <a:tab pos="35814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Learns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patterns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LSTM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Attention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2)Probability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Encoding</a:t>
            </a:r>
            <a:endParaRPr sz="18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buClr>
                <a:srgbClr val="00C9DA"/>
              </a:buClr>
              <a:buSzPct val="66666"/>
              <a:buFont typeface="Arial MT"/>
              <a:buChar char="•"/>
              <a:tabLst>
                <a:tab pos="35814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18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probabilities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arithmetic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encoding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3)Multiple</a:t>
            </a:r>
            <a:r>
              <a:rPr sz="18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Mode Neural</a:t>
            </a:r>
            <a:r>
              <a:rPr sz="18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(LSTM +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Arithmetic)</a:t>
            </a:r>
            <a:endParaRPr sz="1800">
              <a:latin typeface="Times New Roman"/>
              <a:cs typeface="Times New Roman"/>
            </a:endParaRPr>
          </a:p>
          <a:p>
            <a:pPr marL="299720" indent="-287020">
              <a:lnSpc>
                <a:spcPct val="100000"/>
              </a:lnSpc>
              <a:spcBef>
                <a:spcPts val="5"/>
              </a:spcBef>
              <a:buClr>
                <a:srgbClr val="00C9DA"/>
              </a:buClr>
              <a:buSzPct val="66666"/>
              <a:buChar char="●"/>
              <a:tabLst>
                <a:tab pos="299720" algn="l"/>
              </a:tabLst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Neural(LSTM+Arithematic)</a:t>
            </a:r>
            <a:endParaRPr sz="1800">
              <a:latin typeface="Times New Roman"/>
              <a:cs typeface="Times New Roman"/>
            </a:endParaRPr>
          </a:p>
          <a:p>
            <a:pPr marL="414020" indent="-401320">
              <a:lnSpc>
                <a:spcPct val="100000"/>
              </a:lnSpc>
              <a:buClr>
                <a:srgbClr val="00C9DA"/>
              </a:buClr>
              <a:buSzPct val="66666"/>
              <a:buFont typeface="Arial MT"/>
              <a:buChar char="•"/>
              <a:tabLst>
                <a:tab pos="414020" algn="l"/>
              </a:tabLst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Huffman</a:t>
            </a:r>
            <a:endParaRPr sz="1800">
              <a:latin typeface="Times New Roman"/>
              <a:cs typeface="Times New Roman"/>
            </a:endParaRPr>
          </a:p>
          <a:p>
            <a:pPr marL="299720" indent="-287020">
              <a:lnSpc>
                <a:spcPct val="100000"/>
              </a:lnSpc>
              <a:buClr>
                <a:srgbClr val="00C9DA"/>
              </a:buClr>
              <a:buSzPct val="66666"/>
              <a:buFont typeface="Arial MT"/>
              <a:buChar char="•"/>
              <a:tabLst>
                <a:tab pos="29972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Hybrid</a:t>
            </a:r>
            <a:r>
              <a:rPr sz="1800" spc="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(best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both)</a:t>
            </a:r>
            <a:endParaRPr sz="1800">
              <a:latin typeface="Times New Roman"/>
              <a:cs typeface="Times New Roman"/>
            </a:endParaRPr>
          </a:p>
          <a:p>
            <a:pPr marL="299720" indent="-287020">
              <a:lnSpc>
                <a:spcPct val="100000"/>
              </a:lnSpc>
              <a:buClr>
                <a:srgbClr val="00C9DA"/>
              </a:buClr>
              <a:buSzPct val="66666"/>
              <a:buFont typeface="Arial MT"/>
              <a:buChar char="•"/>
              <a:tabLst>
                <a:tab pos="29972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Saves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tokenizer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reuse</a:t>
            </a:r>
            <a:endParaRPr sz="1800">
              <a:latin typeface="Times New Roman"/>
              <a:cs typeface="Times New Roman"/>
            </a:endParaRPr>
          </a:p>
          <a:p>
            <a:pPr marL="299720" indent="-287020">
              <a:lnSpc>
                <a:spcPct val="100000"/>
              </a:lnSpc>
              <a:buClr>
                <a:srgbClr val="00C9DA"/>
              </a:buClr>
              <a:buSzPct val="66666"/>
              <a:buFont typeface="Arial MT"/>
              <a:buChar char="•"/>
              <a:tabLst>
                <a:tab pos="299720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Early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stopping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LR</a:t>
            </a:r>
            <a:r>
              <a:rPr sz="18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scheduler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8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stable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08760" y="822960"/>
            <a:ext cx="198120" cy="228600"/>
          </a:xfrm>
          <a:custGeom>
            <a:avLst/>
            <a:gdLst/>
            <a:ahLst/>
            <a:cxnLst/>
            <a:rect l="l" t="t" r="r" b="b"/>
            <a:pathLst>
              <a:path w="198119" h="228600">
                <a:moveTo>
                  <a:pt x="0" y="0"/>
                </a:moveTo>
                <a:lnTo>
                  <a:pt x="0" y="228600"/>
                </a:lnTo>
                <a:lnTo>
                  <a:pt x="19812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00C9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Arcitecture</a:t>
            </a:r>
            <a:r>
              <a:rPr spc="-175" dirty="0"/>
              <a:t> </a:t>
            </a:r>
            <a:r>
              <a:rPr spc="80" dirty="0"/>
              <a:t>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41951" y="2037529"/>
            <a:ext cx="2444115" cy="215519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600" b="1" spc="-10" dirty="0">
                <a:solidFill>
                  <a:srgbClr val="FFFFFF"/>
                </a:solidFill>
                <a:latin typeface="Trebuchet MS"/>
                <a:cs typeface="Trebuchet MS"/>
              </a:rPr>
              <a:t>Tokenizer</a:t>
            </a:r>
            <a:endParaRPr sz="1600">
              <a:latin typeface="Trebuchet MS"/>
              <a:cs typeface="Trebuchet MS"/>
            </a:endParaRPr>
          </a:p>
          <a:p>
            <a:pPr marL="469900" marR="45720" indent="-305435">
              <a:lnSpc>
                <a:spcPct val="107000"/>
              </a:lnSpc>
              <a:spcBef>
                <a:spcPts val="680"/>
              </a:spcBef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The main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the part</a:t>
            </a:r>
            <a:r>
              <a:rPr sz="12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that 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it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converts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12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character/symbol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numerical</a:t>
            </a:r>
            <a:r>
              <a:rPr sz="12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ID.</a:t>
            </a:r>
            <a:endParaRPr sz="1200">
              <a:latin typeface="Times New Roman"/>
              <a:cs typeface="Times New Roman"/>
            </a:endParaRPr>
          </a:p>
          <a:p>
            <a:pPr marL="469900" marR="5080" indent="-305435">
              <a:lnSpc>
                <a:spcPct val="107000"/>
              </a:lnSpc>
              <a:spcBef>
                <a:spcPts val="800"/>
              </a:spcBef>
            </a:pP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purpose of</a:t>
            </a:r>
            <a:r>
              <a:rPr sz="12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1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component</a:t>
            </a:r>
            <a:r>
              <a:rPr sz="1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provide format</a:t>
            </a:r>
            <a:r>
              <a:rPr sz="12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way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supported</a:t>
            </a:r>
            <a:r>
              <a:rPr sz="12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neural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2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(the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neural</a:t>
            </a:r>
            <a:r>
              <a:rPr sz="12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network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looks</a:t>
            </a:r>
            <a:r>
              <a:rPr sz="12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numbers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not</a:t>
            </a:r>
            <a:r>
              <a:rPr sz="12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Times New Roman"/>
                <a:cs typeface="Times New Roman"/>
              </a:rPr>
              <a:t>raw</a:t>
            </a:r>
            <a:r>
              <a:rPr sz="1200" spc="-20" dirty="0">
                <a:solidFill>
                  <a:srgbClr val="FFFFFF"/>
                </a:solidFill>
                <a:latin typeface="Times New Roman"/>
                <a:cs typeface="Times New Roman"/>
              </a:rPr>
              <a:t> text)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0441" y="1869425"/>
            <a:ext cx="2267585" cy="179514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500" b="1" spc="-20" dirty="0">
                <a:solidFill>
                  <a:srgbClr val="FFFFFF"/>
                </a:solidFill>
                <a:latin typeface="Trebuchet MS"/>
                <a:cs typeface="Trebuchet MS"/>
              </a:rPr>
              <a:t>Text</a:t>
            </a:r>
            <a:endParaRPr sz="2500">
              <a:latin typeface="Trebuchet MS"/>
              <a:cs typeface="Trebuchet MS"/>
            </a:endParaRPr>
          </a:p>
          <a:p>
            <a:pPr marL="165100">
              <a:lnSpc>
                <a:spcPct val="100000"/>
              </a:lnSpc>
              <a:spcBef>
                <a:spcPts val="80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input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endParaRPr sz="16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45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undergo</a:t>
            </a:r>
            <a:r>
              <a:rPr sz="1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compression.</a:t>
            </a:r>
            <a:endParaRPr sz="1600">
              <a:latin typeface="Times New Roman"/>
              <a:cs typeface="Times New Roman"/>
            </a:endParaRPr>
          </a:p>
          <a:p>
            <a:pPr marR="29209" algn="r">
              <a:lnSpc>
                <a:spcPct val="100000"/>
              </a:lnSpc>
              <a:spcBef>
                <a:spcPts val="94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Consider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paragraph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2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any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file</a:t>
            </a:r>
            <a:r>
              <a:rPr sz="16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given,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03140" y="1737360"/>
            <a:ext cx="345440" cy="345440"/>
          </a:xfrm>
          <a:custGeom>
            <a:avLst/>
            <a:gdLst/>
            <a:ahLst/>
            <a:cxnLst/>
            <a:rect l="l" t="t" r="r" b="b"/>
            <a:pathLst>
              <a:path w="345439" h="345439">
                <a:moveTo>
                  <a:pt x="65912" y="0"/>
                </a:moveTo>
                <a:lnTo>
                  <a:pt x="62230" y="0"/>
                </a:lnTo>
                <a:lnTo>
                  <a:pt x="60451" y="507"/>
                </a:lnTo>
                <a:lnTo>
                  <a:pt x="4699" y="35178"/>
                </a:lnTo>
                <a:lnTo>
                  <a:pt x="1777" y="36956"/>
                </a:lnTo>
                <a:lnTo>
                  <a:pt x="0" y="40512"/>
                </a:lnTo>
                <a:lnTo>
                  <a:pt x="0" y="114807"/>
                </a:lnTo>
                <a:lnTo>
                  <a:pt x="1777" y="118110"/>
                </a:lnTo>
                <a:lnTo>
                  <a:pt x="4699" y="119761"/>
                </a:lnTo>
                <a:lnTo>
                  <a:pt x="53848" y="150875"/>
                </a:lnTo>
                <a:lnTo>
                  <a:pt x="53848" y="194690"/>
                </a:lnTo>
                <a:lnTo>
                  <a:pt x="4699" y="225678"/>
                </a:lnTo>
                <a:lnTo>
                  <a:pt x="1777" y="227456"/>
                </a:lnTo>
                <a:lnTo>
                  <a:pt x="0" y="230758"/>
                </a:lnTo>
                <a:lnTo>
                  <a:pt x="0" y="305053"/>
                </a:lnTo>
                <a:lnTo>
                  <a:pt x="1777" y="308609"/>
                </a:lnTo>
                <a:lnTo>
                  <a:pt x="4699" y="310260"/>
                </a:lnTo>
                <a:lnTo>
                  <a:pt x="58800" y="344042"/>
                </a:lnTo>
                <a:lnTo>
                  <a:pt x="60325" y="345185"/>
                </a:lnTo>
                <a:lnTo>
                  <a:pt x="62357" y="345439"/>
                </a:lnTo>
                <a:lnTo>
                  <a:pt x="65912" y="345439"/>
                </a:lnTo>
                <a:lnTo>
                  <a:pt x="67945" y="345185"/>
                </a:lnTo>
                <a:lnTo>
                  <a:pt x="69342" y="344042"/>
                </a:lnTo>
                <a:lnTo>
                  <a:pt x="112664" y="316991"/>
                </a:lnTo>
                <a:lnTo>
                  <a:pt x="53848" y="316991"/>
                </a:lnTo>
                <a:lnTo>
                  <a:pt x="20193" y="296037"/>
                </a:lnTo>
                <a:lnTo>
                  <a:pt x="20193" y="252348"/>
                </a:lnTo>
                <a:lnTo>
                  <a:pt x="58437" y="252348"/>
                </a:lnTo>
                <a:lnTo>
                  <a:pt x="29337" y="234187"/>
                </a:lnTo>
                <a:lnTo>
                  <a:pt x="64135" y="212344"/>
                </a:lnTo>
                <a:lnTo>
                  <a:pt x="102293" y="212344"/>
                </a:lnTo>
                <a:lnTo>
                  <a:pt x="74295" y="194690"/>
                </a:lnTo>
                <a:lnTo>
                  <a:pt x="74295" y="150875"/>
                </a:lnTo>
                <a:lnTo>
                  <a:pt x="112209" y="126873"/>
                </a:lnTo>
                <a:lnTo>
                  <a:pt x="53848" y="126873"/>
                </a:lnTo>
                <a:lnTo>
                  <a:pt x="20193" y="105790"/>
                </a:lnTo>
                <a:lnTo>
                  <a:pt x="20193" y="62102"/>
                </a:lnTo>
                <a:lnTo>
                  <a:pt x="58502" y="62102"/>
                </a:lnTo>
                <a:lnTo>
                  <a:pt x="29337" y="43687"/>
                </a:lnTo>
                <a:lnTo>
                  <a:pt x="64135" y="21970"/>
                </a:lnTo>
                <a:lnTo>
                  <a:pt x="102204" y="21970"/>
                </a:lnTo>
                <a:lnTo>
                  <a:pt x="67690" y="507"/>
                </a:lnTo>
                <a:lnTo>
                  <a:pt x="65912" y="0"/>
                </a:lnTo>
                <a:close/>
              </a:path>
              <a:path w="345439" h="345439">
                <a:moveTo>
                  <a:pt x="237489" y="291591"/>
                </a:moveTo>
                <a:lnTo>
                  <a:pt x="217297" y="291591"/>
                </a:lnTo>
                <a:lnTo>
                  <a:pt x="217297" y="305053"/>
                </a:lnTo>
                <a:lnTo>
                  <a:pt x="219075" y="308609"/>
                </a:lnTo>
                <a:lnTo>
                  <a:pt x="221996" y="310260"/>
                </a:lnTo>
                <a:lnTo>
                  <a:pt x="275844" y="344042"/>
                </a:lnTo>
                <a:lnTo>
                  <a:pt x="277622" y="345185"/>
                </a:lnTo>
                <a:lnTo>
                  <a:pt x="279400" y="345439"/>
                </a:lnTo>
                <a:lnTo>
                  <a:pt x="283210" y="345439"/>
                </a:lnTo>
                <a:lnTo>
                  <a:pt x="284861" y="345185"/>
                </a:lnTo>
                <a:lnTo>
                  <a:pt x="286638" y="344042"/>
                </a:lnTo>
                <a:lnTo>
                  <a:pt x="329961" y="316991"/>
                </a:lnTo>
                <a:lnTo>
                  <a:pt x="271145" y="316991"/>
                </a:lnTo>
                <a:lnTo>
                  <a:pt x="237489" y="296037"/>
                </a:lnTo>
                <a:lnTo>
                  <a:pt x="237489" y="291591"/>
                </a:lnTo>
                <a:close/>
              </a:path>
              <a:path w="345439" h="345439">
                <a:moveTo>
                  <a:pt x="58437" y="252348"/>
                </a:moveTo>
                <a:lnTo>
                  <a:pt x="20193" y="252348"/>
                </a:lnTo>
                <a:lnTo>
                  <a:pt x="53848" y="273431"/>
                </a:lnTo>
                <a:lnTo>
                  <a:pt x="53848" y="316991"/>
                </a:lnTo>
                <a:lnTo>
                  <a:pt x="74295" y="316991"/>
                </a:lnTo>
                <a:lnTo>
                  <a:pt x="74295" y="273431"/>
                </a:lnTo>
                <a:lnTo>
                  <a:pt x="102273" y="255904"/>
                </a:lnTo>
                <a:lnTo>
                  <a:pt x="64135" y="255904"/>
                </a:lnTo>
                <a:lnTo>
                  <a:pt x="58437" y="252348"/>
                </a:lnTo>
                <a:close/>
              </a:path>
              <a:path w="345439" h="345439">
                <a:moveTo>
                  <a:pt x="128143" y="252348"/>
                </a:moveTo>
                <a:lnTo>
                  <a:pt x="107950" y="252348"/>
                </a:lnTo>
                <a:lnTo>
                  <a:pt x="107950" y="296037"/>
                </a:lnTo>
                <a:lnTo>
                  <a:pt x="74295" y="316991"/>
                </a:lnTo>
                <a:lnTo>
                  <a:pt x="112664" y="316991"/>
                </a:lnTo>
                <a:lnTo>
                  <a:pt x="123444" y="310260"/>
                </a:lnTo>
                <a:lnTo>
                  <a:pt x="126364" y="308609"/>
                </a:lnTo>
                <a:lnTo>
                  <a:pt x="128143" y="305053"/>
                </a:lnTo>
                <a:lnTo>
                  <a:pt x="128143" y="291591"/>
                </a:lnTo>
                <a:lnTo>
                  <a:pt x="237489" y="291591"/>
                </a:lnTo>
                <a:lnTo>
                  <a:pt x="237489" y="271398"/>
                </a:lnTo>
                <a:lnTo>
                  <a:pt x="128143" y="271398"/>
                </a:lnTo>
                <a:lnTo>
                  <a:pt x="128143" y="252348"/>
                </a:lnTo>
                <a:close/>
              </a:path>
              <a:path w="345439" h="345439">
                <a:moveTo>
                  <a:pt x="275734" y="252348"/>
                </a:moveTo>
                <a:lnTo>
                  <a:pt x="237489" y="252348"/>
                </a:lnTo>
                <a:lnTo>
                  <a:pt x="271145" y="273431"/>
                </a:lnTo>
                <a:lnTo>
                  <a:pt x="271145" y="316991"/>
                </a:lnTo>
                <a:lnTo>
                  <a:pt x="291338" y="316991"/>
                </a:lnTo>
                <a:lnTo>
                  <a:pt x="291338" y="273431"/>
                </a:lnTo>
                <a:lnTo>
                  <a:pt x="319527" y="255904"/>
                </a:lnTo>
                <a:lnTo>
                  <a:pt x="281432" y="255904"/>
                </a:lnTo>
                <a:lnTo>
                  <a:pt x="275734" y="252348"/>
                </a:lnTo>
                <a:close/>
              </a:path>
              <a:path w="345439" h="345439">
                <a:moveTo>
                  <a:pt x="345439" y="252348"/>
                </a:moveTo>
                <a:lnTo>
                  <a:pt x="325247" y="252348"/>
                </a:lnTo>
                <a:lnTo>
                  <a:pt x="325247" y="296037"/>
                </a:lnTo>
                <a:lnTo>
                  <a:pt x="291338" y="316991"/>
                </a:lnTo>
                <a:lnTo>
                  <a:pt x="329961" y="316991"/>
                </a:lnTo>
                <a:lnTo>
                  <a:pt x="340740" y="310260"/>
                </a:lnTo>
                <a:lnTo>
                  <a:pt x="343662" y="308609"/>
                </a:lnTo>
                <a:lnTo>
                  <a:pt x="345439" y="305053"/>
                </a:lnTo>
                <a:lnTo>
                  <a:pt x="345439" y="252348"/>
                </a:lnTo>
                <a:close/>
              </a:path>
              <a:path w="345439" h="345439">
                <a:moveTo>
                  <a:pt x="237489" y="74167"/>
                </a:moveTo>
                <a:lnTo>
                  <a:pt x="217297" y="74167"/>
                </a:lnTo>
                <a:lnTo>
                  <a:pt x="217297" y="114807"/>
                </a:lnTo>
                <a:lnTo>
                  <a:pt x="219075" y="118110"/>
                </a:lnTo>
                <a:lnTo>
                  <a:pt x="221996" y="119761"/>
                </a:lnTo>
                <a:lnTo>
                  <a:pt x="271145" y="150875"/>
                </a:lnTo>
                <a:lnTo>
                  <a:pt x="271145" y="194690"/>
                </a:lnTo>
                <a:lnTo>
                  <a:pt x="221996" y="225678"/>
                </a:lnTo>
                <a:lnTo>
                  <a:pt x="219075" y="227456"/>
                </a:lnTo>
                <a:lnTo>
                  <a:pt x="217297" y="230758"/>
                </a:lnTo>
                <a:lnTo>
                  <a:pt x="217297" y="271398"/>
                </a:lnTo>
                <a:lnTo>
                  <a:pt x="237489" y="271398"/>
                </a:lnTo>
                <a:lnTo>
                  <a:pt x="237489" y="252348"/>
                </a:lnTo>
                <a:lnTo>
                  <a:pt x="275734" y="252348"/>
                </a:lnTo>
                <a:lnTo>
                  <a:pt x="246634" y="234187"/>
                </a:lnTo>
                <a:lnTo>
                  <a:pt x="281432" y="212344"/>
                </a:lnTo>
                <a:lnTo>
                  <a:pt x="319481" y="212344"/>
                </a:lnTo>
                <a:lnTo>
                  <a:pt x="291338" y="194690"/>
                </a:lnTo>
                <a:lnTo>
                  <a:pt x="291338" y="150875"/>
                </a:lnTo>
                <a:lnTo>
                  <a:pt x="329448" y="126873"/>
                </a:lnTo>
                <a:lnTo>
                  <a:pt x="271145" y="126873"/>
                </a:lnTo>
                <a:lnTo>
                  <a:pt x="237489" y="105790"/>
                </a:lnTo>
                <a:lnTo>
                  <a:pt x="237489" y="74167"/>
                </a:lnTo>
                <a:close/>
              </a:path>
              <a:path w="345439" h="345439">
                <a:moveTo>
                  <a:pt x="102293" y="212344"/>
                </a:moveTo>
                <a:lnTo>
                  <a:pt x="64135" y="212344"/>
                </a:lnTo>
                <a:lnTo>
                  <a:pt x="99187" y="234187"/>
                </a:lnTo>
                <a:lnTo>
                  <a:pt x="64135" y="255904"/>
                </a:lnTo>
                <a:lnTo>
                  <a:pt x="102273" y="255904"/>
                </a:lnTo>
                <a:lnTo>
                  <a:pt x="107950" y="252348"/>
                </a:lnTo>
                <a:lnTo>
                  <a:pt x="128143" y="252348"/>
                </a:lnTo>
                <a:lnTo>
                  <a:pt x="128143" y="230758"/>
                </a:lnTo>
                <a:lnTo>
                  <a:pt x="126364" y="227456"/>
                </a:lnTo>
                <a:lnTo>
                  <a:pt x="123444" y="225678"/>
                </a:lnTo>
                <a:lnTo>
                  <a:pt x="102293" y="212344"/>
                </a:lnTo>
                <a:close/>
              </a:path>
              <a:path w="345439" h="345439">
                <a:moveTo>
                  <a:pt x="319481" y="212344"/>
                </a:moveTo>
                <a:lnTo>
                  <a:pt x="281432" y="212344"/>
                </a:lnTo>
                <a:lnTo>
                  <a:pt x="316230" y="234187"/>
                </a:lnTo>
                <a:lnTo>
                  <a:pt x="281432" y="255904"/>
                </a:lnTo>
                <a:lnTo>
                  <a:pt x="319527" y="255904"/>
                </a:lnTo>
                <a:lnTo>
                  <a:pt x="325247" y="252348"/>
                </a:lnTo>
                <a:lnTo>
                  <a:pt x="345439" y="252348"/>
                </a:lnTo>
                <a:lnTo>
                  <a:pt x="345439" y="230758"/>
                </a:lnTo>
                <a:lnTo>
                  <a:pt x="343662" y="227456"/>
                </a:lnTo>
                <a:lnTo>
                  <a:pt x="340740" y="225678"/>
                </a:lnTo>
                <a:lnTo>
                  <a:pt x="319481" y="212344"/>
                </a:lnTo>
                <a:close/>
              </a:path>
              <a:path w="345439" h="345439">
                <a:moveTo>
                  <a:pt x="58502" y="62102"/>
                </a:moveTo>
                <a:lnTo>
                  <a:pt x="20193" y="62102"/>
                </a:lnTo>
                <a:lnTo>
                  <a:pt x="53848" y="83185"/>
                </a:lnTo>
                <a:lnTo>
                  <a:pt x="53848" y="126873"/>
                </a:lnTo>
                <a:lnTo>
                  <a:pt x="74295" y="126873"/>
                </a:lnTo>
                <a:lnTo>
                  <a:pt x="74295" y="83185"/>
                </a:lnTo>
                <a:lnTo>
                  <a:pt x="102273" y="65659"/>
                </a:lnTo>
                <a:lnTo>
                  <a:pt x="64135" y="65659"/>
                </a:lnTo>
                <a:lnTo>
                  <a:pt x="58502" y="62102"/>
                </a:lnTo>
                <a:close/>
              </a:path>
              <a:path w="345439" h="345439">
                <a:moveTo>
                  <a:pt x="237489" y="62102"/>
                </a:moveTo>
                <a:lnTo>
                  <a:pt x="107950" y="62102"/>
                </a:lnTo>
                <a:lnTo>
                  <a:pt x="107950" y="105790"/>
                </a:lnTo>
                <a:lnTo>
                  <a:pt x="74295" y="126873"/>
                </a:lnTo>
                <a:lnTo>
                  <a:pt x="112209" y="126873"/>
                </a:lnTo>
                <a:lnTo>
                  <a:pt x="123444" y="119761"/>
                </a:lnTo>
                <a:lnTo>
                  <a:pt x="126364" y="118110"/>
                </a:lnTo>
                <a:lnTo>
                  <a:pt x="128143" y="114807"/>
                </a:lnTo>
                <a:lnTo>
                  <a:pt x="128143" y="74167"/>
                </a:lnTo>
                <a:lnTo>
                  <a:pt x="237489" y="74167"/>
                </a:lnTo>
                <a:lnTo>
                  <a:pt x="237489" y="62102"/>
                </a:lnTo>
                <a:close/>
              </a:path>
              <a:path w="345439" h="345439">
                <a:moveTo>
                  <a:pt x="275799" y="62102"/>
                </a:moveTo>
                <a:lnTo>
                  <a:pt x="237489" y="62102"/>
                </a:lnTo>
                <a:lnTo>
                  <a:pt x="271145" y="83185"/>
                </a:lnTo>
                <a:lnTo>
                  <a:pt x="271145" y="126873"/>
                </a:lnTo>
                <a:lnTo>
                  <a:pt x="291338" y="126873"/>
                </a:lnTo>
                <a:lnTo>
                  <a:pt x="291338" y="83185"/>
                </a:lnTo>
                <a:lnTo>
                  <a:pt x="319527" y="65659"/>
                </a:lnTo>
                <a:lnTo>
                  <a:pt x="281432" y="65659"/>
                </a:lnTo>
                <a:lnTo>
                  <a:pt x="275799" y="62102"/>
                </a:lnTo>
                <a:close/>
              </a:path>
              <a:path w="345439" h="345439">
                <a:moveTo>
                  <a:pt x="345439" y="62102"/>
                </a:moveTo>
                <a:lnTo>
                  <a:pt x="325247" y="62102"/>
                </a:lnTo>
                <a:lnTo>
                  <a:pt x="325247" y="105790"/>
                </a:lnTo>
                <a:lnTo>
                  <a:pt x="291338" y="126873"/>
                </a:lnTo>
                <a:lnTo>
                  <a:pt x="329448" y="126873"/>
                </a:lnTo>
                <a:lnTo>
                  <a:pt x="340740" y="119761"/>
                </a:lnTo>
                <a:lnTo>
                  <a:pt x="343662" y="118110"/>
                </a:lnTo>
                <a:lnTo>
                  <a:pt x="345439" y="114807"/>
                </a:lnTo>
                <a:lnTo>
                  <a:pt x="345439" y="62102"/>
                </a:lnTo>
                <a:close/>
              </a:path>
              <a:path w="345439" h="345439">
                <a:moveTo>
                  <a:pt x="102204" y="21970"/>
                </a:moveTo>
                <a:lnTo>
                  <a:pt x="64135" y="21970"/>
                </a:lnTo>
                <a:lnTo>
                  <a:pt x="99187" y="43687"/>
                </a:lnTo>
                <a:lnTo>
                  <a:pt x="64135" y="65659"/>
                </a:lnTo>
                <a:lnTo>
                  <a:pt x="102273" y="65659"/>
                </a:lnTo>
                <a:lnTo>
                  <a:pt x="107950" y="62102"/>
                </a:lnTo>
                <a:lnTo>
                  <a:pt x="275799" y="62102"/>
                </a:lnTo>
                <a:lnTo>
                  <a:pt x="262725" y="53848"/>
                </a:lnTo>
                <a:lnTo>
                  <a:pt x="128143" y="53848"/>
                </a:lnTo>
                <a:lnTo>
                  <a:pt x="128143" y="40512"/>
                </a:lnTo>
                <a:lnTo>
                  <a:pt x="126364" y="36956"/>
                </a:lnTo>
                <a:lnTo>
                  <a:pt x="123444" y="35178"/>
                </a:lnTo>
                <a:lnTo>
                  <a:pt x="102204" y="21970"/>
                </a:lnTo>
                <a:close/>
              </a:path>
              <a:path w="345439" h="345439">
                <a:moveTo>
                  <a:pt x="319508" y="21970"/>
                </a:moveTo>
                <a:lnTo>
                  <a:pt x="281432" y="21970"/>
                </a:lnTo>
                <a:lnTo>
                  <a:pt x="316230" y="43687"/>
                </a:lnTo>
                <a:lnTo>
                  <a:pt x="281432" y="65659"/>
                </a:lnTo>
                <a:lnTo>
                  <a:pt x="319527" y="65659"/>
                </a:lnTo>
                <a:lnTo>
                  <a:pt x="325247" y="62102"/>
                </a:lnTo>
                <a:lnTo>
                  <a:pt x="345439" y="62102"/>
                </a:lnTo>
                <a:lnTo>
                  <a:pt x="345439" y="40512"/>
                </a:lnTo>
                <a:lnTo>
                  <a:pt x="343662" y="36956"/>
                </a:lnTo>
                <a:lnTo>
                  <a:pt x="340740" y="35178"/>
                </a:lnTo>
                <a:lnTo>
                  <a:pt x="319508" y="21970"/>
                </a:lnTo>
                <a:close/>
              </a:path>
              <a:path w="345439" h="345439">
                <a:moveTo>
                  <a:pt x="283210" y="0"/>
                </a:moveTo>
                <a:lnTo>
                  <a:pt x="279526" y="0"/>
                </a:lnTo>
                <a:lnTo>
                  <a:pt x="277622" y="507"/>
                </a:lnTo>
                <a:lnTo>
                  <a:pt x="275844" y="1524"/>
                </a:lnTo>
                <a:lnTo>
                  <a:pt x="221996" y="35178"/>
                </a:lnTo>
                <a:lnTo>
                  <a:pt x="219075" y="36956"/>
                </a:lnTo>
                <a:lnTo>
                  <a:pt x="217297" y="40512"/>
                </a:lnTo>
                <a:lnTo>
                  <a:pt x="217297" y="53848"/>
                </a:lnTo>
                <a:lnTo>
                  <a:pt x="262725" y="53848"/>
                </a:lnTo>
                <a:lnTo>
                  <a:pt x="246634" y="43687"/>
                </a:lnTo>
                <a:lnTo>
                  <a:pt x="281432" y="21970"/>
                </a:lnTo>
                <a:lnTo>
                  <a:pt x="319508" y="21970"/>
                </a:lnTo>
                <a:lnTo>
                  <a:pt x="286638" y="1524"/>
                </a:lnTo>
                <a:lnTo>
                  <a:pt x="285114" y="507"/>
                </a:lnTo>
                <a:lnTo>
                  <a:pt x="283210" y="0"/>
                </a:lnTo>
                <a:close/>
              </a:path>
            </a:pathLst>
          </a:custGeom>
          <a:solidFill>
            <a:srgbClr val="00C9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7520" y="1738629"/>
            <a:ext cx="345440" cy="344170"/>
          </a:xfrm>
          <a:custGeom>
            <a:avLst/>
            <a:gdLst/>
            <a:ahLst/>
            <a:cxnLst/>
            <a:rect l="l" t="t" r="r" b="b"/>
            <a:pathLst>
              <a:path w="345439" h="344169">
                <a:moveTo>
                  <a:pt x="74294" y="140970"/>
                </a:moveTo>
                <a:lnTo>
                  <a:pt x="53721" y="140970"/>
                </a:lnTo>
                <a:lnTo>
                  <a:pt x="53721" y="204470"/>
                </a:lnTo>
                <a:lnTo>
                  <a:pt x="41784" y="209550"/>
                </a:lnTo>
                <a:lnTo>
                  <a:pt x="32242" y="218440"/>
                </a:lnTo>
                <a:lnTo>
                  <a:pt x="25913" y="229870"/>
                </a:lnTo>
                <a:lnTo>
                  <a:pt x="23622" y="243840"/>
                </a:lnTo>
                <a:lnTo>
                  <a:pt x="23622" y="252730"/>
                </a:lnTo>
                <a:lnTo>
                  <a:pt x="26543" y="261620"/>
                </a:lnTo>
                <a:lnTo>
                  <a:pt x="31623" y="267970"/>
                </a:lnTo>
                <a:lnTo>
                  <a:pt x="18752" y="275590"/>
                </a:lnTo>
                <a:lnTo>
                  <a:pt x="8762" y="285750"/>
                </a:lnTo>
                <a:lnTo>
                  <a:pt x="2297" y="299720"/>
                </a:lnTo>
                <a:lnTo>
                  <a:pt x="0" y="314960"/>
                </a:lnTo>
                <a:lnTo>
                  <a:pt x="0" y="340360"/>
                </a:lnTo>
                <a:lnTo>
                  <a:pt x="4318" y="344170"/>
                </a:lnTo>
                <a:lnTo>
                  <a:pt x="123698" y="344170"/>
                </a:lnTo>
                <a:lnTo>
                  <a:pt x="128143" y="340360"/>
                </a:lnTo>
                <a:lnTo>
                  <a:pt x="128143" y="323850"/>
                </a:lnTo>
                <a:lnTo>
                  <a:pt x="20193" y="323850"/>
                </a:lnTo>
                <a:lnTo>
                  <a:pt x="20193" y="314960"/>
                </a:lnTo>
                <a:lnTo>
                  <a:pt x="22598" y="302260"/>
                </a:lnTo>
                <a:lnTo>
                  <a:pt x="29146" y="293370"/>
                </a:lnTo>
                <a:lnTo>
                  <a:pt x="38838" y="287020"/>
                </a:lnTo>
                <a:lnTo>
                  <a:pt x="50673" y="284480"/>
                </a:lnTo>
                <a:lnTo>
                  <a:pt x="335283" y="284480"/>
                </a:lnTo>
                <a:lnTo>
                  <a:pt x="326526" y="275590"/>
                </a:lnTo>
                <a:lnTo>
                  <a:pt x="313817" y="267970"/>
                </a:lnTo>
                <a:lnTo>
                  <a:pt x="316788" y="264160"/>
                </a:lnTo>
                <a:lnTo>
                  <a:pt x="63754" y="264160"/>
                </a:lnTo>
                <a:lnTo>
                  <a:pt x="55937" y="261620"/>
                </a:lnTo>
                <a:lnTo>
                  <a:pt x="49514" y="257810"/>
                </a:lnTo>
                <a:lnTo>
                  <a:pt x="45162" y="251460"/>
                </a:lnTo>
                <a:lnTo>
                  <a:pt x="43561" y="243840"/>
                </a:lnTo>
                <a:lnTo>
                  <a:pt x="45162" y="236220"/>
                </a:lnTo>
                <a:lnTo>
                  <a:pt x="49514" y="228600"/>
                </a:lnTo>
                <a:lnTo>
                  <a:pt x="55937" y="224790"/>
                </a:lnTo>
                <a:lnTo>
                  <a:pt x="63754" y="223520"/>
                </a:lnTo>
                <a:lnTo>
                  <a:pt x="98620" y="223520"/>
                </a:lnTo>
                <a:lnTo>
                  <a:pt x="95821" y="218440"/>
                </a:lnTo>
                <a:lnTo>
                  <a:pt x="86284" y="209550"/>
                </a:lnTo>
                <a:lnTo>
                  <a:pt x="74294" y="204470"/>
                </a:lnTo>
                <a:lnTo>
                  <a:pt x="74294" y="181610"/>
                </a:lnTo>
                <a:lnTo>
                  <a:pt x="155575" y="181610"/>
                </a:lnTo>
                <a:lnTo>
                  <a:pt x="155575" y="162560"/>
                </a:lnTo>
                <a:lnTo>
                  <a:pt x="74294" y="162560"/>
                </a:lnTo>
                <a:lnTo>
                  <a:pt x="74294" y="140970"/>
                </a:lnTo>
                <a:close/>
              </a:path>
              <a:path w="345439" h="344169">
                <a:moveTo>
                  <a:pt x="267843" y="284480"/>
                </a:moveTo>
                <a:lnTo>
                  <a:pt x="227203" y="284480"/>
                </a:lnTo>
                <a:lnTo>
                  <a:pt x="223083" y="290830"/>
                </a:lnTo>
                <a:lnTo>
                  <a:pt x="219964" y="298450"/>
                </a:lnTo>
                <a:lnTo>
                  <a:pt x="217987" y="306070"/>
                </a:lnTo>
                <a:lnTo>
                  <a:pt x="217297" y="314960"/>
                </a:lnTo>
                <a:lnTo>
                  <a:pt x="217297" y="340360"/>
                </a:lnTo>
                <a:lnTo>
                  <a:pt x="221615" y="344170"/>
                </a:lnTo>
                <a:lnTo>
                  <a:pt x="340741" y="344170"/>
                </a:lnTo>
                <a:lnTo>
                  <a:pt x="345440" y="340360"/>
                </a:lnTo>
                <a:lnTo>
                  <a:pt x="345440" y="323850"/>
                </a:lnTo>
                <a:lnTo>
                  <a:pt x="237490" y="323850"/>
                </a:lnTo>
                <a:lnTo>
                  <a:pt x="237490" y="314960"/>
                </a:lnTo>
                <a:lnTo>
                  <a:pt x="239857" y="302260"/>
                </a:lnTo>
                <a:lnTo>
                  <a:pt x="246332" y="293370"/>
                </a:lnTo>
                <a:lnTo>
                  <a:pt x="255974" y="287020"/>
                </a:lnTo>
                <a:lnTo>
                  <a:pt x="267843" y="284480"/>
                </a:lnTo>
                <a:close/>
              </a:path>
              <a:path w="345439" h="344169">
                <a:moveTo>
                  <a:pt x="117856" y="284480"/>
                </a:moveTo>
                <a:lnTo>
                  <a:pt x="77469" y="284480"/>
                </a:lnTo>
                <a:lnTo>
                  <a:pt x="89251" y="287020"/>
                </a:lnTo>
                <a:lnTo>
                  <a:pt x="98948" y="293370"/>
                </a:lnTo>
                <a:lnTo>
                  <a:pt x="105527" y="302260"/>
                </a:lnTo>
                <a:lnTo>
                  <a:pt x="107950" y="314960"/>
                </a:lnTo>
                <a:lnTo>
                  <a:pt x="107950" y="323850"/>
                </a:lnTo>
                <a:lnTo>
                  <a:pt x="128143" y="323850"/>
                </a:lnTo>
                <a:lnTo>
                  <a:pt x="128143" y="314960"/>
                </a:lnTo>
                <a:lnTo>
                  <a:pt x="127446" y="306070"/>
                </a:lnTo>
                <a:lnTo>
                  <a:pt x="125428" y="298450"/>
                </a:lnTo>
                <a:lnTo>
                  <a:pt x="122195" y="290830"/>
                </a:lnTo>
                <a:lnTo>
                  <a:pt x="117856" y="284480"/>
                </a:lnTo>
                <a:close/>
              </a:path>
              <a:path w="345439" h="344169">
                <a:moveTo>
                  <a:pt x="335283" y="284480"/>
                </a:moveTo>
                <a:lnTo>
                  <a:pt x="294767" y="284480"/>
                </a:lnTo>
                <a:lnTo>
                  <a:pt x="306548" y="287020"/>
                </a:lnTo>
                <a:lnTo>
                  <a:pt x="316245" y="293370"/>
                </a:lnTo>
                <a:lnTo>
                  <a:pt x="322824" y="302260"/>
                </a:lnTo>
                <a:lnTo>
                  <a:pt x="325247" y="314960"/>
                </a:lnTo>
                <a:lnTo>
                  <a:pt x="325247" y="323850"/>
                </a:lnTo>
                <a:lnTo>
                  <a:pt x="345440" y="323850"/>
                </a:lnTo>
                <a:lnTo>
                  <a:pt x="345440" y="314960"/>
                </a:lnTo>
                <a:lnTo>
                  <a:pt x="343088" y="299720"/>
                </a:lnTo>
                <a:lnTo>
                  <a:pt x="336534" y="285750"/>
                </a:lnTo>
                <a:lnTo>
                  <a:pt x="335283" y="284480"/>
                </a:lnTo>
                <a:close/>
              </a:path>
              <a:path w="345439" h="344169">
                <a:moveTo>
                  <a:pt x="98620" y="223520"/>
                </a:moveTo>
                <a:lnTo>
                  <a:pt x="63754" y="223520"/>
                </a:lnTo>
                <a:lnTo>
                  <a:pt x="71570" y="224790"/>
                </a:lnTo>
                <a:lnTo>
                  <a:pt x="77993" y="228600"/>
                </a:lnTo>
                <a:lnTo>
                  <a:pt x="82345" y="236220"/>
                </a:lnTo>
                <a:lnTo>
                  <a:pt x="83947" y="243840"/>
                </a:lnTo>
                <a:lnTo>
                  <a:pt x="82345" y="251460"/>
                </a:lnTo>
                <a:lnTo>
                  <a:pt x="77993" y="257810"/>
                </a:lnTo>
                <a:lnTo>
                  <a:pt x="71570" y="261620"/>
                </a:lnTo>
                <a:lnTo>
                  <a:pt x="63754" y="264160"/>
                </a:lnTo>
                <a:lnTo>
                  <a:pt x="99060" y="264160"/>
                </a:lnTo>
                <a:lnTo>
                  <a:pt x="102616" y="257810"/>
                </a:lnTo>
                <a:lnTo>
                  <a:pt x="104393" y="251460"/>
                </a:lnTo>
                <a:lnTo>
                  <a:pt x="104393" y="243840"/>
                </a:lnTo>
                <a:lnTo>
                  <a:pt x="102119" y="229870"/>
                </a:lnTo>
                <a:lnTo>
                  <a:pt x="98620" y="223520"/>
                </a:lnTo>
                <a:close/>
              </a:path>
              <a:path w="345439" h="344169">
                <a:moveTo>
                  <a:pt x="155575" y="181610"/>
                </a:moveTo>
                <a:lnTo>
                  <a:pt x="136906" y="181610"/>
                </a:lnTo>
                <a:lnTo>
                  <a:pt x="140628" y="190500"/>
                </a:lnTo>
                <a:lnTo>
                  <a:pt x="146399" y="198120"/>
                </a:lnTo>
                <a:lnTo>
                  <a:pt x="153836" y="204470"/>
                </a:lnTo>
                <a:lnTo>
                  <a:pt x="162560" y="207010"/>
                </a:lnTo>
                <a:lnTo>
                  <a:pt x="162560" y="264160"/>
                </a:lnTo>
                <a:lnTo>
                  <a:pt x="182753" y="264160"/>
                </a:lnTo>
                <a:lnTo>
                  <a:pt x="182753" y="207010"/>
                </a:lnTo>
                <a:lnTo>
                  <a:pt x="191436" y="204470"/>
                </a:lnTo>
                <a:lnTo>
                  <a:pt x="198786" y="198120"/>
                </a:lnTo>
                <a:lnTo>
                  <a:pt x="204469" y="190500"/>
                </a:lnTo>
                <a:lnTo>
                  <a:pt x="204996" y="189230"/>
                </a:lnTo>
                <a:lnTo>
                  <a:pt x="163194" y="189230"/>
                </a:lnTo>
                <a:lnTo>
                  <a:pt x="155575" y="181610"/>
                </a:lnTo>
                <a:close/>
              </a:path>
              <a:path w="345439" h="344169">
                <a:moveTo>
                  <a:pt x="291338" y="181610"/>
                </a:moveTo>
                <a:lnTo>
                  <a:pt x="271018" y="181610"/>
                </a:lnTo>
                <a:lnTo>
                  <a:pt x="271018" y="204470"/>
                </a:lnTo>
                <a:lnTo>
                  <a:pt x="258881" y="209550"/>
                </a:lnTo>
                <a:lnTo>
                  <a:pt x="249269" y="218440"/>
                </a:lnTo>
                <a:lnTo>
                  <a:pt x="242943" y="229870"/>
                </a:lnTo>
                <a:lnTo>
                  <a:pt x="240665" y="243840"/>
                </a:lnTo>
                <a:lnTo>
                  <a:pt x="240665" y="251460"/>
                </a:lnTo>
                <a:lnTo>
                  <a:pt x="242697" y="257810"/>
                </a:lnTo>
                <a:lnTo>
                  <a:pt x="246253" y="264160"/>
                </a:lnTo>
                <a:lnTo>
                  <a:pt x="281050" y="264160"/>
                </a:lnTo>
                <a:lnTo>
                  <a:pt x="273234" y="261620"/>
                </a:lnTo>
                <a:lnTo>
                  <a:pt x="266811" y="257810"/>
                </a:lnTo>
                <a:lnTo>
                  <a:pt x="262459" y="251460"/>
                </a:lnTo>
                <a:lnTo>
                  <a:pt x="260857" y="243840"/>
                </a:lnTo>
                <a:lnTo>
                  <a:pt x="262459" y="236220"/>
                </a:lnTo>
                <a:lnTo>
                  <a:pt x="266811" y="228600"/>
                </a:lnTo>
                <a:lnTo>
                  <a:pt x="273234" y="224790"/>
                </a:lnTo>
                <a:lnTo>
                  <a:pt x="281050" y="223520"/>
                </a:lnTo>
                <a:lnTo>
                  <a:pt x="315898" y="223520"/>
                </a:lnTo>
                <a:lnTo>
                  <a:pt x="313086" y="218440"/>
                </a:lnTo>
                <a:lnTo>
                  <a:pt x="303474" y="209550"/>
                </a:lnTo>
                <a:lnTo>
                  <a:pt x="291338" y="204470"/>
                </a:lnTo>
                <a:lnTo>
                  <a:pt x="291338" y="181610"/>
                </a:lnTo>
                <a:close/>
              </a:path>
              <a:path w="345439" h="344169">
                <a:moveTo>
                  <a:pt x="315898" y="223520"/>
                </a:moveTo>
                <a:lnTo>
                  <a:pt x="281050" y="223520"/>
                </a:lnTo>
                <a:lnTo>
                  <a:pt x="288867" y="224790"/>
                </a:lnTo>
                <a:lnTo>
                  <a:pt x="295290" y="228600"/>
                </a:lnTo>
                <a:lnTo>
                  <a:pt x="299642" y="236220"/>
                </a:lnTo>
                <a:lnTo>
                  <a:pt x="301244" y="243840"/>
                </a:lnTo>
                <a:lnTo>
                  <a:pt x="299642" y="251460"/>
                </a:lnTo>
                <a:lnTo>
                  <a:pt x="295290" y="257810"/>
                </a:lnTo>
                <a:lnTo>
                  <a:pt x="288867" y="261620"/>
                </a:lnTo>
                <a:lnTo>
                  <a:pt x="281050" y="264160"/>
                </a:lnTo>
                <a:lnTo>
                  <a:pt x="316788" y="264160"/>
                </a:lnTo>
                <a:lnTo>
                  <a:pt x="318769" y="261620"/>
                </a:lnTo>
                <a:lnTo>
                  <a:pt x="321691" y="252730"/>
                </a:lnTo>
                <a:lnTo>
                  <a:pt x="321691" y="243840"/>
                </a:lnTo>
                <a:lnTo>
                  <a:pt x="319412" y="229870"/>
                </a:lnTo>
                <a:lnTo>
                  <a:pt x="315898" y="223520"/>
                </a:lnTo>
                <a:close/>
              </a:path>
              <a:path w="345439" h="344169">
                <a:moveTo>
                  <a:pt x="204996" y="154940"/>
                </a:moveTo>
                <a:lnTo>
                  <a:pt x="181610" y="154940"/>
                </a:lnTo>
                <a:lnTo>
                  <a:pt x="189230" y="162560"/>
                </a:lnTo>
                <a:lnTo>
                  <a:pt x="189230" y="181610"/>
                </a:lnTo>
                <a:lnTo>
                  <a:pt x="181610" y="189230"/>
                </a:lnTo>
                <a:lnTo>
                  <a:pt x="204996" y="189230"/>
                </a:lnTo>
                <a:lnTo>
                  <a:pt x="208153" y="181610"/>
                </a:lnTo>
                <a:lnTo>
                  <a:pt x="291338" y="181610"/>
                </a:lnTo>
                <a:lnTo>
                  <a:pt x="291338" y="162560"/>
                </a:lnTo>
                <a:lnTo>
                  <a:pt x="208153" y="162560"/>
                </a:lnTo>
                <a:lnTo>
                  <a:pt x="204996" y="154940"/>
                </a:lnTo>
                <a:close/>
              </a:path>
              <a:path w="345439" h="344169">
                <a:moveTo>
                  <a:pt x="182753" y="80010"/>
                </a:moveTo>
                <a:lnTo>
                  <a:pt x="162560" y="80010"/>
                </a:lnTo>
                <a:lnTo>
                  <a:pt x="162560" y="135890"/>
                </a:lnTo>
                <a:lnTo>
                  <a:pt x="153836" y="139700"/>
                </a:lnTo>
                <a:lnTo>
                  <a:pt x="146399" y="146050"/>
                </a:lnTo>
                <a:lnTo>
                  <a:pt x="140628" y="153670"/>
                </a:lnTo>
                <a:lnTo>
                  <a:pt x="136906" y="162560"/>
                </a:lnTo>
                <a:lnTo>
                  <a:pt x="155575" y="162560"/>
                </a:lnTo>
                <a:lnTo>
                  <a:pt x="163194" y="154940"/>
                </a:lnTo>
                <a:lnTo>
                  <a:pt x="204996" y="154940"/>
                </a:lnTo>
                <a:lnTo>
                  <a:pt x="204470" y="153670"/>
                </a:lnTo>
                <a:lnTo>
                  <a:pt x="198786" y="146050"/>
                </a:lnTo>
                <a:lnTo>
                  <a:pt x="191436" y="139700"/>
                </a:lnTo>
                <a:lnTo>
                  <a:pt x="182753" y="135890"/>
                </a:lnTo>
                <a:lnTo>
                  <a:pt x="182753" y="80010"/>
                </a:lnTo>
                <a:close/>
              </a:path>
              <a:path w="345439" h="344169">
                <a:moveTo>
                  <a:pt x="291338" y="140970"/>
                </a:moveTo>
                <a:lnTo>
                  <a:pt x="271018" y="140970"/>
                </a:lnTo>
                <a:lnTo>
                  <a:pt x="271018" y="162560"/>
                </a:lnTo>
                <a:lnTo>
                  <a:pt x="291338" y="162560"/>
                </a:lnTo>
                <a:lnTo>
                  <a:pt x="291338" y="140970"/>
                </a:lnTo>
                <a:close/>
              </a:path>
              <a:path w="345439" h="344169">
                <a:moveTo>
                  <a:pt x="65786" y="0"/>
                </a:moveTo>
                <a:lnTo>
                  <a:pt x="63627" y="0"/>
                </a:lnTo>
                <a:lnTo>
                  <a:pt x="48053" y="2540"/>
                </a:lnTo>
                <a:lnTo>
                  <a:pt x="35337" y="11430"/>
                </a:lnTo>
                <a:lnTo>
                  <a:pt x="26765" y="24130"/>
                </a:lnTo>
                <a:lnTo>
                  <a:pt x="23622" y="39370"/>
                </a:lnTo>
                <a:lnTo>
                  <a:pt x="23622" y="48260"/>
                </a:lnTo>
                <a:lnTo>
                  <a:pt x="26543" y="57150"/>
                </a:lnTo>
                <a:lnTo>
                  <a:pt x="31623" y="63500"/>
                </a:lnTo>
                <a:lnTo>
                  <a:pt x="18752" y="71120"/>
                </a:lnTo>
                <a:lnTo>
                  <a:pt x="8762" y="82550"/>
                </a:lnTo>
                <a:lnTo>
                  <a:pt x="2297" y="95250"/>
                </a:lnTo>
                <a:lnTo>
                  <a:pt x="0" y="110490"/>
                </a:lnTo>
                <a:lnTo>
                  <a:pt x="0" y="137160"/>
                </a:lnTo>
                <a:lnTo>
                  <a:pt x="4318" y="140970"/>
                </a:lnTo>
                <a:lnTo>
                  <a:pt x="123698" y="140970"/>
                </a:lnTo>
                <a:lnTo>
                  <a:pt x="128143" y="137160"/>
                </a:lnTo>
                <a:lnTo>
                  <a:pt x="128143" y="120650"/>
                </a:lnTo>
                <a:lnTo>
                  <a:pt x="20193" y="120650"/>
                </a:lnTo>
                <a:lnTo>
                  <a:pt x="20193" y="110490"/>
                </a:lnTo>
                <a:lnTo>
                  <a:pt x="22598" y="99060"/>
                </a:lnTo>
                <a:lnTo>
                  <a:pt x="29146" y="88900"/>
                </a:lnTo>
                <a:lnTo>
                  <a:pt x="38838" y="82550"/>
                </a:lnTo>
                <a:lnTo>
                  <a:pt x="50673" y="80010"/>
                </a:lnTo>
                <a:lnTo>
                  <a:pt x="334310" y="80010"/>
                </a:lnTo>
                <a:lnTo>
                  <a:pt x="326526" y="71120"/>
                </a:lnTo>
                <a:lnTo>
                  <a:pt x="313817" y="63500"/>
                </a:lnTo>
                <a:lnTo>
                  <a:pt x="316481" y="59690"/>
                </a:lnTo>
                <a:lnTo>
                  <a:pt x="63754" y="59690"/>
                </a:lnTo>
                <a:lnTo>
                  <a:pt x="55937" y="58420"/>
                </a:lnTo>
                <a:lnTo>
                  <a:pt x="49514" y="54610"/>
                </a:lnTo>
                <a:lnTo>
                  <a:pt x="45162" y="46990"/>
                </a:lnTo>
                <a:lnTo>
                  <a:pt x="43561" y="39370"/>
                </a:lnTo>
                <a:lnTo>
                  <a:pt x="45162" y="31750"/>
                </a:lnTo>
                <a:lnTo>
                  <a:pt x="49514" y="25400"/>
                </a:lnTo>
                <a:lnTo>
                  <a:pt x="55937" y="21590"/>
                </a:lnTo>
                <a:lnTo>
                  <a:pt x="63754" y="19050"/>
                </a:lnTo>
                <a:lnTo>
                  <a:pt x="98104" y="19050"/>
                </a:lnTo>
                <a:lnTo>
                  <a:pt x="92519" y="11430"/>
                </a:lnTo>
                <a:lnTo>
                  <a:pt x="80426" y="2540"/>
                </a:lnTo>
                <a:lnTo>
                  <a:pt x="65786" y="0"/>
                </a:lnTo>
                <a:close/>
              </a:path>
              <a:path w="345439" h="344169">
                <a:moveTo>
                  <a:pt x="267843" y="80010"/>
                </a:moveTo>
                <a:lnTo>
                  <a:pt x="227203" y="80010"/>
                </a:lnTo>
                <a:lnTo>
                  <a:pt x="223083" y="86360"/>
                </a:lnTo>
                <a:lnTo>
                  <a:pt x="219964" y="93980"/>
                </a:lnTo>
                <a:lnTo>
                  <a:pt x="217987" y="101600"/>
                </a:lnTo>
                <a:lnTo>
                  <a:pt x="217297" y="110490"/>
                </a:lnTo>
                <a:lnTo>
                  <a:pt x="217297" y="137160"/>
                </a:lnTo>
                <a:lnTo>
                  <a:pt x="221615" y="140970"/>
                </a:lnTo>
                <a:lnTo>
                  <a:pt x="340741" y="140970"/>
                </a:lnTo>
                <a:lnTo>
                  <a:pt x="345440" y="137160"/>
                </a:lnTo>
                <a:lnTo>
                  <a:pt x="345440" y="120650"/>
                </a:lnTo>
                <a:lnTo>
                  <a:pt x="237490" y="120650"/>
                </a:lnTo>
                <a:lnTo>
                  <a:pt x="237490" y="110490"/>
                </a:lnTo>
                <a:lnTo>
                  <a:pt x="239857" y="99060"/>
                </a:lnTo>
                <a:lnTo>
                  <a:pt x="246332" y="88900"/>
                </a:lnTo>
                <a:lnTo>
                  <a:pt x="255974" y="82550"/>
                </a:lnTo>
                <a:lnTo>
                  <a:pt x="267843" y="80010"/>
                </a:lnTo>
                <a:close/>
              </a:path>
              <a:path w="345439" h="344169">
                <a:moveTo>
                  <a:pt x="117856" y="80010"/>
                </a:moveTo>
                <a:lnTo>
                  <a:pt x="77469" y="80010"/>
                </a:lnTo>
                <a:lnTo>
                  <a:pt x="89251" y="82550"/>
                </a:lnTo>
                <a:lnTo>
                  <a:pt x="98948" y="88900"/>
                </a:lnTo>
                <a:lnTo>
                  <a:pt x="105527" y="99060"/>
                </a:lnTo>
                <a:lnTo>
                  <a:pt x="107950" y="110490"/>
                </a:lnTo>
                <a:lnTo>
                  <a:pt x="107950" y="120650"/>
                </a:lnTo>
                <a:lnTo>
                  <a:pt x="128143" y="120650"/>
                </a:lnTo>
                <a:lnTo>
                  <a:pt x="128143" y="110490"/>
                </a:lnTo>
                <a:lnTo>
                  <a:pt x="127446" y="101600"/>
                </a:lnTo>
                <a:lnTo>
                  <a:pt x="125428" y="93980"/>
                </a:lnTo>
                <a:lnTo>
                  <a:pt x="122195" y="86360"/>
                </a:lnTo>
                <a:lnTo>
                  <a:pt x="117856" y="80010"/>
                </a:lnTo>
                <a:close/>
              </a:path>
              <a:path w="345439" h="344169">
                <a:moveTo>
                  <a:pt x="334310" y="80010"/>
                </a:moveTo>
                <a:lnTo>
                  <a:pt x="294767" y="80010"/>
                </a:lnTo>
                <a:lnTo>
                  <a:pt x="306548" y="82550"/>
                </a:lnTo>
                <a:lnTo>
                  <a:pt x="316245" y="88900"/>
                </a:lnTo>
                <a:lnTo>
                  <a:pt x="322824" y="99060"/>
                </a:lnTo>
                <a:lnTo>
                  <a:pt x="325247" y="110490"/>
                </a:lnTo>
                <a:lnTo>
                  <a:pt x="325247" y="120650"/>
                </a:lnTo>
                <a:lnTo>
                  <a:pt x="345440" y="120650"/>
                </a:lnTo>
                <a:lnTo>
                  <a:pt x="345440" y="110490"/>
                </a:lnTo>
                <a:lnTo>
                  <a:pt x="343088" y="95250"/>
                </a:lnTo>
                <a:lnTo>
                  <a:pt x="336534" y="82550"/>
                </a:lnTo>
                <a:lnTo>
                  <a:pt x="334310" y="80010"/>
                </a:lnTo>
                <a:close/>
              </a:path>
              <a:path w="345439" h="344169">
                <a:moveTo>
                  <a:pt x="98104" y="19050"/>
                </a:moveTo>
                <a:lnTo>
                  <a:pt x="63754" y="19050"/>
                </a:lnTo>
                <a:lnTo>
                  <a:pt x="71570" y="21590"/>
                </a:lnTo>
                <a:lnTo>
                  <a:pt x="77993" y="25400"/>
                </a:lnTo>
                <a:lnTo>
                  <a:pt x="82345" y="31750"/>
                </a:lnTo>
                <a:lnTo>
                  <a:pt x="83947" y="39370"/>
                </a:lnTo>
                <a:lnTo>
                  <a:pt x="82345" y="46990"/>
                </a:lnTo>
                <a:lnTo>
                  <a:pt x="77993" y="54610"/>
                </a:lnTo>
                <a:lnTo>
                  <a:pt x="71570" y="58420"/>
                </a:lnTo>
                <a:lnTo>
                  <a:pt x="63754" y="59690"/>
                </a:lnTo>
                <a:lnTo>
                  <a:pt x="99060" y="59690"/>
                </a:lnTo>
                <a:lnTo>
                  <a:pt x="102869" y="53340"/>
                </a:lnTo>
                <a:lnTo>
                  <a:pt x="104648" y="45720"/>
                </a:lnTo>
                <a:lnTo>
                  <a:pt x="104436" y="39370"/>
                </a:lnTo>
                <a:lnTo>
                  <a:pt x="104393" y="38100"/>
                </a:lnTo>
                <a:lnTo>
                  <a:pt x="100897" y="22860"/>
                </a:lnTo>
                <a:lnTo>
                  <a:pt x="98104" y="19050"/>
                </a:lnTo>
                <a:close/>
              </a:path>
              <a:path w="345439" h="344169">
                <a:moveTo>
                  <a:pt x="281940" y="0"/>
                </a:moveTo>
                <a:lnTo>
                  <a:pt x="281178" y="0"/>
                </a:lnTo>
                <a:lnTo>
                  <a:pt x="265364" y="2540"/>
                </a:lnTo>
                <a:lnTo>
                  <a:pt x="252491" y="11430"/>
                </a:lnTo>
                <a:lnTo>
                  <a:pt x="243834" y="24130"/>
                </a:lnTo>
                <a:lnTo>
                  <a:pt x="240665" y="39370"/>
                </a:lnTo>
                <a:lnTo>
                  <a:pt x="240665" y="46990"/>
                </a:lnTo>
                <a:lnTo>
                  <a:pt x="242697" y="54610"/>
                </a:lnTo>
                <a:lnTo>
                  <a:pt x="246253" y="59690"/>
                </a:lnTo>
                <a:lnTo>
                  <a:pt x="281050" y="59690"/>
                </a:lnTo>
                <a:lnTo>
                  <a:pt x="273234" y="58420"/>
                </a:lnTo>
                <a:lnTo>
                  <a:pt x="266811" y="54610"/>
                </a:lnTo>
                <a:lnTo>
                  <a:pt x="262459" y="46990"/>
                </a:lnTo>
                <a:lnTo>
                  <a:pt x="260857" y="39370"/>
                </a:lnTo>
                <a:lnTo>
                  <a:pt x="262459" y="31750"/>
                </a:lnTo>
                <a:lnTo>
                  <a:pt x="266811" y="25400"/>
                </a:lnTo>
                <a:lnTo>
                  <a:pt x="273234" y="21590"/>
                </a:lnTo>
                <a:lnTo>
                  <a:pt x="281050" y="19050"/>
                </a:lnTo>
                <a:lnTo>
                  <a:pt x="315334" y="19050"/>
                </a:lnTo>
                <a:lnTo>
                  <a:pt x="309244" y="10160"/>
                </a:lnTo>
                <a:lnTo>
                  <a:pt x="296830" y="2540"/>
                </a:lnTo>
                <a:lnTo>
                  <a:pt x="281940" y="0"/>
                </a:lnTo>
                <a:close/>
              </a:path>
              <a:path w="345439" h="344169">
                <a:moveTo>
                  <a:pt x="315334" y="19050"/>
                </a:moveTo>
                <a:lnTo>
                  <a:pt x="281050" y="19050"/>
                </a:lnTo>
                <a:lnTo>
                  <a:pt x="288867" y="21590"/>
                </a:lnTo>
                <a:lnTo>
                  <a:pt x="295290" y="25400"/>
                </a:lnTo>
                <a:lnTo>
                  <a:pt x="299642" y="31750"/>
                </a:lnTo>
                <a:lnTo>
                  <a:pt x="301244" y="39370"/>
                </a:lnTo>
                <a:lnTo>
                  <a:pt x="299642" y="46990"/>
                </a:lnTo>
                <a:lnTo>
                  <a:pt x="295290" y="54610"/>
                </a:lnTo>
                <a:lnTo>
                  <a:pt x="288867" y="58420"/>
                </a:lnTo>
                <a:lnTo>
                  <a:pt x="281050" y="59690"/>
                </a:lnTo>
                <a:lnTo>
                  <a:pt x="316481" y="59690"/>
                </a:lnTo>
                <a:lnTo>
                  <a:pt x="321691" y="38100"/>
                </a:lnTo>
                <a:lnTo>
                  <a:pt x="317944" y="22860"/>
                </a:lnTo>
                <a:lnTo>
                  <a:pt x="315334" y="19050"/>
                </a:lnTo>
                <a:close/>
              </a:path>
            </a:pathLst>
          </a:custGeom>
          <a:solidFill>
            <a:srgbClr val="00C9D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359" y="530605"/>
            <a:ext cx="423359" cy="43052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69035" y="2044700"/>
            <a:ext cx="4919980" cy="250444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1600" b="1" spc="105" dirty="0">
                <a:solidFill>
                  <a:srgbClr val="FFFFFF"/>
                </a:solidFill>
                <a:latin typeface="Trebuchet MS"/>
                <a:cs typeface="Trebuchet MS"/>
              </a:rPr>
              <a:t>LSTM</a:t>
            </a:r>
            <a:r>
              <a:rPr sz="1600" b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rebuchet MS"/>
                <a:cs typeface="Trebuchet MS"/>
              </a:rPr>
              <a:t>Predictor</a:t>
            </a:r>
            <a:endParaRPr sz="1600">
              <a:latin typeface="Trebuchet MS"/>
              <a:cs typeface="Trebuchet MS"/>
            </a:endParaRPr>
          </a:p>
          <a:p>
            <a:pPr marL="165100">
              <a:lnSpc>
                <a:spcPct val="100000"/>
              </a:lnSpc>
              <a:spcBef>
                <a:spcPts val="875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6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LSTM</a:t>
            </a:r>
            <a:r>
              <a:rPr sz="16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neural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will be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here.</a:t>
            </a:r>
            <a:endParaRPr sz="1600">
              <a:latin typeface="Times New Roman"/>
              <a:cs typeface="Times New Roman"/>
            </a:endParaRPr>
          </a:p>
          <a:p>
            <a:pPr marL="469900" marR="5080" indent="-305435">
              <a:lnSpc>
                <a:spcPct val="106800"/>
              </a:lnSpc>
              <a:spcBef>
                <a:spcPts val="81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LSTM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neural</a:t>
            </a:r>
            <a:r>
              <a:rPr sz="16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processes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what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observes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as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context</a:t>
            </a:r>
            <a:r>
              <a:rPr sz="16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previous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characters</a:t>
            </a:r>
            <a:r>
              <a:rPr sz="16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order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determine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predicted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6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character.</a:t>
            </a:r>
            <a:endParaRPr sz="1600">
              <a:latin typeface="Times New Roman"/>
              <a:cs typeface="Times New Roman"/>
            </a:endParaRPr>
          </a:p>
          <a:p>
            <a:pPr marL="469900" marR="403860" indent="-305435">
              <a:lnSpc>
                <a:spcPct val="106800"/>
              </a:lnSpc>
              <a:spcBef>
                <a:spcPts val="810"/>
              </a:spcBef>
            </a:pP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attention mechanism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sz="16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6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16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give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attention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6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significant</a:t>
            </a:r>
            <a:r>
              <a:rPr sz="16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patterns,</a:t>
            </a:r>
            <a:r>
              <a:rPr sz="16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concurrently, </a:t>
            </a:r>
            <a:r>
              <a:rPr sz="1600" dirty="0">
                <a:solidFill>
                  <a:srgbClr val="FFFFFF"/>
                </a:solidFill>
                <a:latin typeface="Times New Roman"/>
                <a:cs typeface="Times New Roman"/>
              </a:rPr>
              <a:t>increases</a:t>
            </a:r>
            <a:r>
              <a:rPr sz="16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/>
                <a:cs typeface="Times New Roman"/>
              </a:rPr>
              <a:t>accuracy.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65860" y="1729867"/>
            <a:ext cx="345440" cy="345440"/>
            <a:chOff x="1165860" y="1729867"/>
            <a:chExt cx="345440" cy="34544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7140" y="1813560"/>
              <a:ext cx="182879" cy="1803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65860" y="1729867"/>
              <a:ext cx="345440" cy="345440"/>
            </a:xfrm>
            <a:custGeom>
              <a:avLst/>
              <a:gdLst/>
              <a:ahLst/>
              <a:cxnLst/>
              <a:rect l="l" t="t" r="r" b="b"/>
              <a:pathLst>
                <a:path w="345440" h="345439">
                  <a:moveTo>
                    <a:pt x="92964" y="0"/>
                  </a:moveTo>
                  <a:lnTo>
                    <a:pt x="86017" y="0"/>
                  </a:lnTo>
                  <a:lnTo>
                    <a:pt x="81915" y="4572"/>
                  </a:lnTo>
                  <a:lnTo>
                    <a:pt x="81915" y="46736"/>
                  </a:lnTo>
                  <a:lnTo>
                    <a:pt x="47498" y="81534"/>
                  </a:lnTo>
                  <a:lnTo>
                    <a:pt x="5537" y="81534"/>
                  </a:lnTo>
                  <a:lnTo>
                    <a:pt x="1193" y="85344"/>
                  </a:lnTo>
                  <a:lnTo>
                    <a:pt x="571" y="90424"/>
                  </a:lnTo>
                  <a:lnTo>
                    <a:pt x="59" y="95885"/>
                  </a:lnTo>
                  <a:lnTo>
                    <a:pt x="0" y="96520"/>
                  </a:lnTo>
                  <a:lnTo>
                    <a:pt x="4686" y="101854"/>
                  </a:lnTo>
                  <a:lnTo>
                    <a:pt x="41414" y="101854"/>
                  </a:lnTo>
                  <a:lnTo>
                    <a:pt x="41414" y="121920"/>
                  </a:lnTo>
                  <a:lnTo>
                    <a:pt x="5537" y="121920"/>
                  </a:lnTo>
                  <a:lnTo>
                    <a:pt x="1193" y="125730"/>
                  </a:lnTo>
                  <a:lnTo>
                    <a:pt x="571" y="131063"/>
                  </a:lnTo>
                  <a:lnTo>
                    <a:pt x="0" y="137160"/>
                  </a:lnTo>
                  <a:lnTo>
                    <a:pt x="4686" y="142240"/>
                  </a:lnTo>
                  <a:lnTo>
                    <a:pt x="41414" y="142240"/>
                  </a:lnTo>
                  <a:lnTo>
                    <a:pt x="41414" y="162306"/>
                  </a:lnTo>
                  <a:lnTo>
                    <a:pt x="5537" y="162306"/>
                  </a:lnTo>
                  <a:lnTo>
                    <a:pt x="1193" y="166116"/>
                  </a:lnTo>
                  <a:lnTo>
                    <a:pt x="571" y="171450"/>
                  </a:lnTo>
                  <a:lnTo>
                    <a:pt x="0" y="177546"/>
                  </a:lnTo>
                  <a:lnTo>
                    <a:pt x="4686" y="182880"/>
                  </a:lnTo>
                  <a:lnTo>
                    <a:pt x="41414" y="182880"/>
                  </a:lnTo>
                  <a:lnTo>
                    <a:pt x="41414" y="202946"/>
                  </a:lnTo>
                  <a:lnTo>
                    <a:pt x="5537" y="202946"/>
                  </a:lnTo>
                  <a:lnTo>
                    <a:pt x="1193" y="206883"/>
                  </a:lnTo>
                  <a:lnTo>
                    <a:pt x="571" y="211709"/>
                  </a:lnTo>
                  <a:lnTo>
                    <a:pt x="0" y="217932"/>
                  </a:lnTo>
                  <a:lnTo>
                    <a:pt x="4686" y="223266"/>
                  </a:lnTo>
                  <a:lnTo>
                    <a:pt x="41414" y="223266"/>
                  </a:lnTo>
                  <a:lnTo>
                    <a:pt x="41414" y="243332"/>
                  </a:lnTo>
                  <a:lnTo>
                    <a:pt x="5537" y="243332"/>
                  </a:lnTo>
                  <a:lnTo>
                    <a:pt x="1193" y="247269"/>
                  </a:lnTo>
                  <a:lnTo>
                    <a:pt x="571" y="252476"/>
                  </a:lnTo>
                  <a:lnTo>
                    <a:pt x="0" y="258572"/>
                  </a:lnTo>
                  <a:lnTo>
                    <a:pt x="4686" y="263652"/>
                  </a:lnTo>
                  <a:lnTo>
                    <a:pt x="47498" y="263652"/>
                  </a:lnTo>
                  <a:lnTo>
                    <a:pt x="81915" y="298450"/>
                  </a:lnTo>
                  <a:lnTo>
                    <a:pt x="81915" y="340233"/>
                  </a:lnTo>
                  <a:lnTo>
                    <a:pt x="85699" y="344678"/>
                  </a:lnTo>
                  <a:lnTo>
                    <a:pt x="90665" y="345186"/>
                  </a:lnTo>
                  <a:lnTo>
                    <a:pt x="91135" y="345313"/>
                  </a:lnTo>
                  <a:lnTo>
                    <a:pt x="97548" y="345313"/>
                  </a:lnTo>
                  <a:lnTo>
                    <a:pt x="101993" y="340614"/>
                  </a:lnTo>
                  <a:lnTo>
                    <a:pt x="101993" y="304292"/>
                  </a:lnTo>
                  <a:lnTo>
                    <a:pt x="263271" y="304292"/>
                  </a:lnTo>
                  <a:lnTo>
                    <a:pt x="263271" y="298450"/>
                  </a:lnTo>
                  <a:lnTo>
                    <a:pt x="277517" y="284099"/>
                  </a:lnTo>
                  <a:lnTo>
                    <a:pt x="96202" y="284099"/>
                  </a:lnTo>
                  <a:lnTo>
                    <a:pt x="61493" y="249301"/>
                  </a:lnTo>
                  <a:lnTo>
                    <a:pt x="61493" y="95885"/>
                  </a:lnTo>
                  <a:lnTo>
                    <a:pt x="96202" y="61213"/>
                  </a:lnTo>
                  <a:lnTo>
                    <a:pt x="277643" y="61213"/>
                  </a:lnTo>
                  <a:lnTo>
                    <a:pt x="263271" y="46736"/>
                  </a:lnTo>
                  <a:lnTo>
                    <a:pt x="263271" y="40894"/>
                  </a:lnTo>
                  <a:lnTo>
                    <a:pt x="101993" y="40894"/>
                  </a:lnTo>
                  <a:lnTo>
                    <a:pt x="101993" y="4953"/>
                  </a:lnTo>
                  <a:lnTo>
                    <a:pt x="98221" y="508"/>
                  </a:lnTo>
                  <a:lnTo>
                    <a:pt x="92964" y="0"/>
                  </a:lnTo>
                  <a:close/>
                </a:path>
                <a:path w="345440" h="345439">
                  <a:moveTo>
                    <a:pt x="142240" y="304292"/>
                  </a:moveTo>
                  <a:lnTo>
                    <a:pt x="122174" y="304292"/>
                  </a:lnTo>
                  <a:lnTo>
                    <a:pt x="122174" y="340233"/>
                  </a:lnTo>
                  <a:lnTo>
                    <a:pt x="125984" y="344678"/>
                  </a:lnTo>
                  <a:lnTo>
                    <a:pt x="131190" y="345186"/>
                  </a:lnTo>
                  <a:lnTo>
                    <a:pt x="131699" y="345313"/>
                  </a:lnTo>
                  <a:lnTo>
                    <a:pt x="138049" y="345313"/>
                  </a:lnTo>
                  <a:lnTo>
                    <a:pt x="142240" y="340614"/>
                  </a:lnTo>
                  <a:lnTo>
                    <a:pt x="142240" y="304292"/>
                  </a:lnTo>
                  <a:close/>
                </a:path>
                <a:path w="345440" h="345439">
                  <a:moveTo>
                    <a:pt x="182753" y="304292"/>
                  </a:moveTo>
                  <a:lnTo>
                    <a:pt x="162306" y="304292"/>
                  </a:lnTo>
                  <a:lnTo>
                    <a:pt x="162306" y="340233"/>
                  </a:lnTo>
                  <a:lnTo>
                    <a:pt x="166115" y="344678"/>
                  </a:lnTo>
                  <a:lnTo>
                    <a:pt x="171323" y="345186"/>
                  </a:lnTo>
                  <a:lnTo>
                    <a:pt x="171831" y="345313"/>
                  </a:lnTo>
                  <a:lnTo>
                    <a:pt x="178308" y="345313"/>
                  </a:lnTo>
                  <a:lnTo>
                    <a:pt x="182753" y="340614"/>
                  </a:lnTo>
                  <a:lnTo>
                    <a:pt x="182753" y="304292"/>
                  </a:lnTo>
                  <a:close/>
                </a:path>
                <a:path w="345440" h="345439">
                  <a:moveTo>
                    <a:pt x="223012" y="304292"/>
                  </a:moveTo>
                  <a:lnTo>
                    <a:pt x="202819" y="304292"/>
                  </a:lnTo>
                  <a:lnTo>
                    <a:pt x="202819" y="340233"/>
                  </a:lnTo>
                  <a:lnTo>
                    <a:pt x="206628" y="344678"/>
                  </a:lnTo>
                  <a:lnTo>
                    <a:pt x="211962" y="345186"/>
                  </a:lnTo>
                  <a:lnTo>
                    <a:pt x="212344" y="345313"/>
                  </a:lnTo>
                  <a:lnTo>
                    <a:pt x="218567" y="345313"/>
                  </a:lnTo>
                  <a:lnTo>
                    <a:pt x="223012" y="340614"/>
                  </a:lnTo>
                  <a:lnTo>
                    <a:pt x="223012" y="304292"/>
                  </a:lnTo>
                  <a:close/>
                </a:path>
                <a:path w="345440" h="345439">
                  <a:moveTo>
                    <a:pt x="263271" y="304292"/>
                  </a:moveTo>
                  <a:lnTo>
                    <a:pt x="243078" y="304292"/>
                  </a:lnTo>
                  <a:lnTo>
                    <a:pt x="243078" y="340233"/>
                  </a:lnTo>
                  <a:lnTo>
                    <a:pt x="246887" y="344678"/>
                  </a:lnTo>
                  <a:lnTo>
                    <a:pt x="252095" y="345186"/>
                  </a:lnTo>
                  <a:lnTo>
                    <a:pt x="252603" y="345313"/>
                  </a:lnTo>
                  <a:lnTo>
                    <a:pt x="259080" y="345313"/>
                  </a:lnTo>
                  <a:lnTo>
                    <a:pt x="263271" y="340614"/>
                  </a:lnTo>
                  <a:lnTo>
                    <a:pt x="263271" y="304292"/>
                  </a:lnTo>
                  <a:close/>
                </a:path>
                <a:path w="345440" h="345439">
                  <a:moveTo>
                    <a:pt x="277643" y="61213"/>
                  </a:moveTo>
                  <a:lnTo>
                    <a:pt x="249301" y="61213"/>
                  </a:lnTo>
                  <a:lnTo>
                    <a:pt x="283591" y="95885"/>
                  </a:lnTo>
                  <a:lnTo>
                    <a:pt x="283591" y="249301"/>
                  </a:lnTo>
                  <a:lnTo>
                    <a:pt x="249301" y="284099"/>
                  </a:lnTo>
                  <a:lnTo>
                    <a:pt x="277517" y="284099"/>
                  </a:lnTo>
                  <a:lnTo>
                    <a:pt x="297815" y="263652"/>
                  </a:lnTo>
                  <a:lnTo>
                    <a:pt x="339598" y="263652"/>
                  </a:lnTo>
                  <a:lnTo>
                    <a:pt x="343916" y="259842"/>
                  </a:lnTo>
                  <a:lnTo>
                    <a:pt x="344551" y="254762"/>
                  </a:lnTo>
                  <a:lnTo>
                    <a:pt x="345347" y="249301"/>
                  </a:lnTo>
                  <a:lnTo>
                    <a:pt x="345440" y="248666"/>
                  </a:lnTo>
                  <a:lnTo>
                    <a:pt x="340487" y="243332"/>
                  </a:lnTo>
                  <a:lnTo>
                    <a:pt x="303784" y="243332"/>
                  </a:lnTo>
                  <a:lnTo>
                    <a:pt x="303784" y="223266"/>
                  </a:lnTo>
                  <a:lnTo>
                    <a:pt x="339598" y="223266"/>
                  </a:lnTo>
                  <a:lnTo>
                    <a:pt x="343916" y="219456"/>
                  </a:lnTo>
                  <a:lnTo>
                    <a:pt x="344551" y="214122"/>
                  </a:lnTo>
                  <a:lnTo>
                    <a:pt x="345440" y="208026"/>
                  </a:lnTo>
                  <a:lnTo>
                    <a:pt x="340487" y="202946"/>
                  </a:lnTo>
                  <a:lnTo>
                    <a:pt x="303784" y="202946"/>
                  </a:lnTo>
                  <a:lnTo>
                    <a:pt x="303784" y="182880"/>
                  </a:lnTo>
                  <a:lnTo>
                    <a:pt x="339598" y="182880"/>
                  </a:lnTo>
                  <a:lnTo>
                    <a:pt x="343916" y="179070"/>
                  </a:lnTo>
                  <a:lnTo>
                    <a:pt x="344551" y="173736"/>
                  </a:lnTo>
                  <a:lnTo>
                    <a:pt x="345440" y="167640"/>
                  </a:lnTo>
                  <a:lnTo>
                    <a:pt x="340487" y="162306"/>
                  </a:lnTo>
                  <a:lnTo>
                    <a:pt x="303784" y="162306"/>
                  </a:lnTo>
                  <a:lnTo>
                    <a:pt x="303784" y="142240"/>
                  </a:lnTo>
                  <a:lnTo>
                    <a:pt x="339598" y="142240"/>
                  </a:lnTo>
                  <a:lnTo>
                    <a:pt x="343916" y="138430"/>
                  </a:lnTo>
                  <a:lnTo>
                    <a:pt x="344551" y="133477"/>
                  </a:lnTo>
                  <a:lnTo>
                    <a:pt x="345440" y="127254"/>
                  </a:lnTo>
                  <a:lnTo>
                    <a:pt x="340487" y="121920"/>
                  </a:lnTo>
                  <a:lnTo>
                    <a:pt x="303784" y="121920"/>
                  </a:lnTo>
                  <a:lnTo>
                    <a:pt x="303784" y="101854"/>
                  </a:lnTo>
                  <a:lnTo>
                    <a:pt x="339598" y="101854"/>
                  </a:lnTo>
                  <a:lnTo>
                    <a:pt x="343916" y="98044"/>
                  </a:lnTo>
                  <a:lnTo>
                    <a:pt x="344551" y="92710"/>
                  </a:lnTo>
                  <a:lnTo>
                    <a:pt x="345440" y="86613"/>
                  </a:lnTo>
                  <a:lnTo>
                    <a:pt x="340487" y="81534"/>
                  </a:lnTo>
                  <a:lnTo>
                    <a:pt x="297815" y="81534"/>
                  </a:lnTo>
                  <a:lnTo>
                    <a:pt x="277643" y="61213"/>
                  </a:lnTo>
                  <a:close/>
                </a:path>
                <a:path w="345440" h="345439">
                  <a:moveTo>
                    <a:pt x="133477" y="0"/>
                  </a:moveTo>
                  <a:lnTo>
                    <a:pt x="126498" y="0"/>
                  </a:lnTo>
                  <a:lnTo>
                    <a:pt x="122174" y="4572"/>
                  </a:lnTo>
                  <a:lnTo>
                    <a:pt x="122174" y="40894"/>
                  </a:lnTo>
                  <a:lnTo>
                    <a:pt x="142240" y="40894"/>
                  </a:lnTo>
                  <a:lnTo>
                    <a:pt x="142240" y="4953"/>
                  </a:lnTo>
                  <a:lnTo>
                    <a:pt x="138430" y="508"/>
                  </a:lnTo>
                  <a:lnTo>
                    <a:pt x="133477" y="0"/>
                  </a:lnTo>
                  <a:close/>
                </a:path>
                <a:path w="345440" h="345439">
                  <a:moveTo>
                    <a:pt x="173736" y="0"/>
                  </a:moveTo>
                  <a:lnTo>
                    <a:pt x="166630" y="0"/>
                  </a:lnTo>
                  <a:lnTo>
                    <a:pt x="162306" y="4572"/>
                  </a:lnTo>
                  <a:lnTo>
                    <a:pt x="162306" y="40894"/>
                  </a:lnTo>
                  <a:lnTo>
                    <a:pt x="182753" y="40894"/>
                  </a:lnTo>
                  <a:lnTo>
                    <a:pt x="182753" y="4953"/>
                  </a:lnTo>
                  <a:lnTo>
                    <a:pt x="178943" y="508"/>
                  </a:lnTo>
                  <a:lnTo>
                    <a:pt x="173736" y="0"/>
                  </a:lnTo>
                  <a:close/>
                </a:path>
                <a:path w="345440" h="345439">
                  <a:moveTo>
                    <a:pt x="213868" y="0"/>
                  </a:moveTo>
                  <a:lnTo>
                    <a:pt x="207143" y="0"/>
                  </a:lnTo>
                  <a:lnTo>
                    <a:pt x="202819" y="4572"/>
                  </a:lnTo>
                  <a:lnTo>
                    <a:pt x="202819" y="40894"/>
                  </a:lnTo>
                  <a:lnTo>
                    <a:pt x="223012" y="40894"/>
                  </a:lnTo>
                  <a:lnTo>
                    <a:pt x="223012" y="4953"/>
                  </a:lnTo>
                  <a:lnTo>
                    <a:pt x="219202" y="508"/>
                  </a:lnTo>
                  <a:lnTo>
                    <a:pt x="213868" y="0"/>
                  </a:lnTo>
                  <a:close/>
                </a:path>
                <a:path w="345440" h="345439">
                  <a:moveTo>
                    <a:pt x="254508" y="0"/>
                  </a:moveTo>
                  <a:lnTo>
                    <a:pt x="247402" y="0"/>
                  </a:lnTo>
                  <a:lnTo>
                    <a:pt x="243078" y="4572"/>
                  </a:lnTo>
                  <a:lnTo>
                    <a:pt x="243078" y="40894"/>
                  </a:lnTo>
                  <a:lnTo>
                    <a:pt x="263271" y="40894"/>
                  </a:lnTo>
                  <a:lnTo>
                    <a:pt x="263271" y="4953"/>
                  </a:lnTo>
                  <a:lnTo>
                    <a:pt x="259334" y="508"/>
                  </a:lnTo>
                  <a:lnTo>
                    <a:pt x="254508" y="0"/>
                  </a:lnTo>
                  <a:close/>
                </a:path>
              </a:pathLst>
            </a:custGeom>
            <a:solidFill>
              <a:srgbClr val="00C9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208" y="517270"/>
            <a:ext cx="438459" cy="5245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51547" y="1996757"/>
            <a:ext cx="4526915" cy="2381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rebuchet MS"/>
                <a:cs typeface="Trebuchet MS"/>
              </a:rPr>
              <a:t>Arithmetic</a:t>
            </a:r>
            <a:r>
              <a:rPr sz="1600" b="1" spc="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45" dirty="0">
                <a:solidFill>
                  <a:srgbClr val="FFFFFF"/>
                </a:solidFill>
                <a:latin typeface="Trebuchet MS"/>
                <a:cs typeface="Trebuchet MS"/>
              </a:rPr>
              <a:t>Encoder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00">
              <a:latin typeface="Trebuchet MS"/>
              <a:cs typeface="Trebuchet MS"/>
            </a:endParaRPr>
          </a:p>
          <a:p>
            <a:pPr marL="317500" marR="45085" indent="-304800">
              <a:lnSpc>
                <a:spcPct val="1068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step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take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predicted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probabilistic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models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LSTM,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apply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arithmetic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coding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produce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efficient compression.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probable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characters</a:t>
            </a: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yield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shorter</a:t>
            </a:r>
            <a:endParaRPr sz="18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14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code,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yielding</a:t>
            </a:r>
            <a:r>
              <a:rPr sz="1800" spc="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better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compression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ratio.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016" y="1381760"/>
            <a:ext cx="347103" cy="34543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67828" y="796798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5" h="24765">
                <a:moveTo>
                  <a:pt x="19202" y="0"/>
                </a:moveTo>
                <a:lnTo>
                  <a:pt x="5537" y="0"/>
                </a:lnTo>
                <a:lnTo>
                  <a:pt x="0" y="5587"/>
                </a:lnTo>
                <a:lnTo>
                  <a:pt x="0" y="19176"/>
                </a:lnTo>
                <a:lnTo>
                  <a:pt x="5537" y="24764"/>
                </a:lnTo>
                <a:lnTo>
                  <a:pt x="19202" y="24764"/>
                </a:lnTo>
                <a:lnTo>
                  <a:pt x="24752" y="19176"/>
                </a:lnTo>
                <a:lnTo>
                  <a:pt x="24752" y="12446"/>
                </a:lnTo>
                <a:lnTo>
                  <a:pt x="24752" y="5587"/>
                </a:lnTo>
                <a:lnTo>
                  <a:pt x="192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88383" y="373125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4">
                <a:moveTo>
                  <a:pt x="24765" y="5461"/>
                </a:moveTo>
                <a:lnTo>
                  <a:pt x="19177" y="0"/>
                </a:lnTo>
                <a:lnTo>
                  <a:pt x="5461" y="0"/>
                </a:lnTo>
                <a:lnTo>
                  <a:pt x="0" y="5461"/>
                </a:lnTo>
                <a:lnTo>
                  <a:pt x="0" y="19177"/>
                </a:lnTo>
                <a:lnTo>
                  <a:pt x="5461" y="24765"/>
                </a:lnTo>
                <a:lnTo>
                  <a:pt x="19177" y="24765"/>
                </a:lnTo>
                <a:lnTo>
                  <a:pt x="24765" y="19177"/>
                </a:lnTo>
                <a:lnTo>
                  <a:pt x="24765" y="12319"/>
                </a:lnTo>
                <a:lnTo>
                  <a:pt x="24765" y="5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2195" y="841501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5">
                <a:moveTo>
                  <a:pt x="24765" y="5461"/>
                </a:moveTo>
                <a:lnTo>
                  <a:pt x="19177" y="0"/>
                </a:lnTo>
                <a:lnTo>
                  <a:pt x="5588" y="0"/>
                </a:lnTo>
                <a:lnTo>
                  <a:pt x="0" y="5461"/>
                </a:lnTo>
                <a:lnTo>
                  <a:pt x="0" y="19177"/>
                </a:lnTo>
                <a:lnTo>
                  <a:pt x="5588" y="24765"/>
                </a:lnTo>
                <a:lnTo>
                  <a:pt x="19177" y="24765"/>
                </a:lnTo>
                <a:lnTo>
                  <a:pt x="24765" y="19177"/>
                </a:lnTo>
                <a:lnTo>
                  <a:pt x="24765" y="12319"/>
                </a:lnTo>
                <a:lnTo>
                  <a:pt x="24765" y="54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273" y="535173"/>
            <a:ext cx="492775" cy="4786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51547" y="1692275"/>
            <a:ext cx="4658995" cy="209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Compressed</a:t>
            </a:r>
            <a:r>
              <a:rPr sz="1800" b="1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Output</a:t>
            </a:r>
            <a:endParaRPr sz="1800">
              <a:latin typeface="Times New Roman"/>
              <a:cs typeface="Times New Roman"/>
            </a:endParaRPr>
          </a:p>
          <a:p>
            <a:pPr marL="110489">
              <a:lnSpc>
                <a:spcPct val="100000"/>
              </a:lnSpc>
            </a:pP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File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final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output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file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sz="18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consist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binary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output/a</a:t>
            </a:r>
            <a:endParaRPr sz="18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14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compressed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file.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 could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decompressed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reverse</a:t>
            </a:r>
            <a:endParaRPr sz="18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spcBef>
                <a:spcPts val="140"/>
              </a:spcBef>
            </a:pP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process.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4016" y="1381760"/>
            <a:ext cx="347103" cy="34543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67407" y="469900"/>
            <a:ext cx="24765" cy="24765"/>
          </a:xfrm>
          <a:custGeom>
            <a:avLst/>
            <a:gdLst/>
            <a:ahLst/>
            <a:cxnLst/>
            <a:rect l="l" t="t" r="r" b="b"/>
            <a:pathLst>
              <a:path w="24764" h="24765">
                <a:moveTo>
                  <a:pt x="19304" y="0"/>
                </a:moveTo>
                <a:lnTo>
                  <a:pt x="5587" y="0"/>
                </a:lnTo>
                <a:lnTo>
                  <a:pt x="0" y="5587"/>
                </a:lnTo>
                <a:lnTo>
                  <a:pt x="0" y="19303"/>
                </a:lnTo>
                <a:lnTo>
                  <a:pt x="5587" y="24764"/>
                </a:lnTo>
                <a:lnTo>
                  <a:pt x="19304" y="24764"/>
                </a:lnTo>
                <a:lnTo>
                  <a:pt x="24765" y="19303"/>
                </a:lnTo>
                <a:lnTo>
                  <a:pt x="24765" y="12446"/>
                </a:lnTo>
                <a:lnTo>
                  <a:pt x="24765" y="5587"/>
                </a:lnTo>
                <a:lnTo>
                  <a:pt x="1930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807" y="511428"/>
            <a:ext cx="435102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Neural</a:t>
            </a:r>
            <a:r>
              <a:rPr spc="-165" dirty="0"/>
              <a:t> </a:t>
            </a:r>
            <a:r>
              <a:rPr spc="105" dirty="0"/>
              <a:t>(LSTM</a:t>
            </a:r>
            <a:r>
              <a:rPr spc="-165" dirty="0"/>
              <a:t> </a:t>
            </a:r>
            <a:r>
              <a:rPr spc="-430" dirty="0"/>
              <a:t>+</a:t>
            </a:r>
            <a:r>
              <a:rPr spc="-190" dirty="0"/>
              <a:t> </a:t>
            </a:r>
            <a:r>
              <a:rPr spc="40" dirty="0"/>
              <a:t>Arithmetic)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722" y="1183957"/>
            <a:ext cx="7905750" cy="2585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combines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Long</a:t>
            </a:r>
            <a:r>
              <a:rPr sz="2000" b="1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Short-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Term</a:t>
            </a:r>
            <a:r>
              <a:rPr sz="20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Memory</a:t>
            </a:r>
            <a:r>
              <a:rPr sz="200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(LSTM)</a:t>
            </a:r>
            <a:r>
              <a:rPr sz="2000" b="1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network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Arithmetic</a:t>
            </a:r>
            <a:r>
              <a:rPr sz="20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Coding</a:t>
            </a:r>
            <a:r>
              <a:rPr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intelligent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text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compression.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LSTM</a:t>
            </a:r>
            <a:r>
              <a:rPr sz="20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learns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character-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level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patterns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predicts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each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symbol,</a:t>
            </a:r>
            <a:r>
              <a:rPr sz="20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Arithmetic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Encoder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probabilities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assign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shorter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binary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codes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characters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longer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codes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rare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ones.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results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context-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aware,</a:t>
            </a:r>
            <a:r>
              <a:rPr sz="24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adaptive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compression</a:t>
            </a:r>
            <a:r>
              <a:rPr sz="2400" b="1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achieves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better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than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traditional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Huffman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coding.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Result</a:t>
            </a:r>
            <a:r>
              <a:rPr spc="-185" dirty="0"/>
              <a:t> </a:t>
            </a:r>
            <a:r>
              <a:rPr spc="90" dirty="0"/>
              <a:t>&amp;Analysis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617" y="1414398"/>
            <a:ext cx="8016240" cy="246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Outputs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&amp;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observations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Tokenizer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output: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vocabulary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(example)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85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characters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(including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specials).</a:t>
            </a:r>
            <a:endParaRPr sz="2000">
              <a:latin typeface="Times New Roman"/>
              <a:cs typeface="Times New Roman"/>
            </a:endParaRPr>
          </a:p>
          <a:p>
            <a:pPr marL="165100" indent="-152400">
              <a:lnSpc>
                <a:spcPct val="100000"/>
              </a:lnSpc>
              <a:buChar char="•"/>
              <a:tabLst>
                <a:tab pos="16510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Huffman: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generated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variable-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length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prefix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codes;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high-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frequency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letters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get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shorter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codes.</a:t>
            </a:r>
            <a:endParaRPr sz="2000">
              <a:latin typeface="Times New Roman"/>
              <a:cs typeface="Times New Roman"/>
            </a:endParaRPr>
          </a:p>
          <a:p>
            <a:pPr marL="228600" lvl="1" indent="-152400">
              <a:lnSpc>
                <a:spcPct val="100000"/>
              </a:lnSpc>
              <a:buChar char="•"/>
              <a:tabLst>
                <a:tab pos="228600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LSTM: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loss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decreased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epochs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(sample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plot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included).</a:t>
            </a:r>
            <a:endParaRPr sz="2000">
              <a:latin typeface="Times New Roman"/>
              <a:cs typeface="Times New Roman"/>
            </a:endParaRPr>
          </a:p>
          <a:p>
            <a:pPr marL="164465" indent="-151765">
              <a:lnSpc>
                <a:spcPct val="100000"/>
              </a:lnSpc>
              <a:buChar char="•"/>
              <a:tabLst>
                <a:tab pos="164465" algn="l"/>
              </a:tabLst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Arithmetic: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produced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compact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tag;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combined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LSTM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predictions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yields the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best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compression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experiments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Result</a:t>
            </a:r>
            <a:r>
              <a:rPr spc="-185" dirty="0"/>
              <a:t> </a:t>
            </a:r>
            <a:r>
              <a:rPr spc="90" dirty="0"/>
              <a:t>&amp;Analysis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617" y="1043940"/>
            <a:ext cx="37814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Performace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Table,Comparison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Table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759" y="1592580"/>
            <a:ext cx="7904480" cy="1409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8819" y="3355340"/>
            <a:ext cx="6764020" cy="1163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This</a:t>
            </a:r>
            <a:r>
              <a:rPr spc="-40" dirty="0"/>
              <a:t> </a:t>
            </a:r>
            <a:r>
              <a:rPr dirty="0"/>
              <a:t>project</a:t>
            </a:r>
            <a:r>
              <a:rPr spc="-40" dirty="0"/>
              <a:t> </a:t>
            </a:r>
            <a:r>
              <a:rPr dirty="0"/>
              <a:t>successfully</a:t>
            </a:r>
            <a:r>
              <a:rPr spc="-40" dirty="0"/>
              <a:t> </a:t>
            </a:r>
            <a:r>
              <a:rPr dirty="0"/>
              <a:t>shows</a:t>
            </a:r>
            <a:r>
              <a:rPr spc="-35" dirty="0"/>
              <a:t> </a:t>
            </a:r>
            <a:r>
              <a:rPr dirty="0"/>
              <a:t>that</a:t>
            </a:r>
            <a:r>
              <a:rPr spc="-50" dirty="0"/>
              <a:t> </a:t>
            </a:r>
            <a:r>
              <a:rPr dirty="0"/>
              <a:t>when</a:t>
            </a:r>
            <a:r>
              <a:rPr spc="-35" dirty="0"/>
              <a:t> </a:t>
            </a:r>
            <a:r>
              <a:rPr dirty="0"/>
              <a:t>neural</a:t>
            </a:r>
            <a:r>
              <a:rPr spc="-45" dirty="0"/>
              <a:t> </a:t>
            </a:r>
            <a:r>
              <a:rPr dirty="0"/>
              <a:t>networks</a:t>
            </a:r>
            <a:r>
              <a:rPr spc="-35" dirty="0"/>
              <a:t> </a:t>
            </a:r>
            <a:r>
              <a:rPr spc="-25" dirty="0"/>
              <a:t>are </a:t>
            </a:r>
            <a:r>
              <a:rPr dirty="0"/>
              <a:t>combined</a:t>
            </a:r>
            <a:r>
              <a:rPr spc="-10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entropy</a:t>
            </a:r>
            <a:r>
              <a:rPr spc="-55" dirty="0"/>
              <a:t> </a:t>
            </a:r>
            <a:r>
              <a:rPr dirty="0"/>
              <a:t>coders,</a:t>
            </a:r>
            <a:r>
              <a:rPr spc="-40" dirty="0"/>
              <a:t> </a:t>
            </a:r>
            <a:r>
              <a:rPr dirty="0"/>
              <a:t>compression</a:t>
            </a:r>
            <a:r>
              <a:rPr spc="-25" dirty="0"/>
              <a:t> </a:t>
            </a:r>
            <a:r>
              <a:rPr dirty="0"/>
              <a:t>becomes</a:t>
            </a:r>
            <a:r>
              <a:rPr spc="-10" dirty="0"/>
              <a:t> significantly </a:t>
            </a:r>
            <a:r>
              <a:rPr dirty="0"/>
              <a:t>more</a:t>
            </a:r>
            <a:r>
              <a:rPr spc="-20" dirty="0"/>
              <a:t> </a:t>
            </a:r>
            <a:r>
              <a:rPr dirty="0"/>
              <a:t>efficient.</a:t>
            </a:r>
            <a:r>
              <a:rPr spc="-10" dirty="0"/>
              <a:t> </a:t>
            </a:r>
            <a:r>
              <a:rPr dirty="0"/>
              <a:t>LSTM</a:t>
            </a:r>
            <a:r>
              <a:rPr spc="-30" dirty="0"/>
              <a:t> </a:t>
            </a:r>
            <a:r>
              <a:rPr dirty="0"/>
              <a:t>learns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context</a:t>
            </a:r>
            <a:r>
              <a:rPr spc="-40" dirty="0"/>
              <a:t> </a:t>
            </a:r>
            <a:r>
              <a:rPr dirty="0"/>
              <a:t>distribution</a:t>
            </a:r>
            <a:r>
              <a:rPr spc="-1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arithmetic </a:t>
            </a:r>
            <a:r>
              <a:rPr dirty="0"/>
              <a:t>coding</a:t>
            </a:r>
            <a:r>
              <a:rPr spc="-20" dirty="0"/>
              <a:t> </a:t>
            </a:r>
            <a:r>
              <a:rPr dirty="0"/>
              <a:t>converts</a:t>
            </a:r>
            <a:r>
              <a:rPr spc="-5" dirty="0"/>
              <a:t> </a:t>
            </a:r>
            <a:r>
              <a:rPr dirty="0"/>
              <a:t>these</a:t>
            </a:r>
            <a:r>
              <a:rPr spc="-20" dirty="0"/>
              <a:t> </a:t>
            </a:r>
            <a:r>
              <a:rPr dirty="0"/>
              <a:t>distributions</a:t>
            </a:r>
            <a:r>
              <a:rPr spc="-20" dirty="0"/>
              <a:t> </a:t>
            </a:r>
            <a:r>
              <a:rPr dirty="0"/>
              <a:t>into</a:t>
            </a:r>
            <a:r>
              <a:rPr spc="-15" dirty="0"/>
              <a:t> </a:t>
            </a:r>
            <a:r>
              <a:rPr spc="-10" dirty="0"/>
              <a:t>near-</a:t>
            </a:r>
            <a:r>
              <a:rPr dirty="0"/>
              <a:t>optimal</a:t>
            </a:r>
            <a:r>
              <a:rPr spc="5" dirty="0"/>
              <a:t> </a:t>
            </a:r>
            <a:r>
              <a:rPr dirty="0"/>
              <a:t>bit</a:t>
            </a:r>
            <a:r>
              <a:rPr spc="-15" dirty="0"/>
              <a:t> </a:t>
            </a:r>
            <a:r>
              <a:rPr spc="-10" dirty="0"/>
              <a:t>sequences. </a:t>
            </a:r>
            <a:r>
              <a:rPr dirty="0"/>
              <a:t>Classical</a:t>
            </a:r>
            <a:r>
              <a:rPr spc="-25" dirty="0"/>
              <a:t> </a:t>
            </a:r>
            <a:r>
              <a:rPr dirty="0"/>
              <a:t>coding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blind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context</a:t>
            </a:r>
            <a:r>
              <a:rPr spc="-10" dirty="0"/>
              <a:t> </a:t>
            </a:r>
            <a:r>
              <a:rPr dirty="0"/>
              <a:t>whereas</a:t>
            </a:r>
            <a:r>
              <a:rPr spc="-20" dirty="0"/>
              <a:t> </a:t>
            </a:r>
            <a:r>
              <a:rPr dirty="0"/>
              <a:t>our</a:t>
            </a:r>
            <a:r>
              <a:rPr spc="-20" dirty="0"/>
              <a:t> </a:t>
            </a:r>
            <a:r>
              <a:rPr dirty="0"/>
              <a:t>method</a:t>
            </a:r>
            <a:r>
              <a:rPr spc="-5" dirty="0"/>
              <a:t> </a:t>
            </a:r>
            <a:r>
              <a:rPr spc="-20" dirty="0"/>
              <a:t>uses </a:t>
            </a:r>
            <a:r>
              <a:rPr dirty="0"/>
              <a:t>learned</a:t>
            </a:r>
            <a:r>
              <a:rPr spc="-25" dirty="0"/>
              <a:t> </a:t>
            </a:r>
            <a:r>
              <a:rPr dirty="0"/>
              <a:t>context.</a:t>
            </a:r>
            <a:r>
              <a:rPr spc="-3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proposed</a:t>
            </a:r>
            <a:r>
              <a:rPr spc="-40" dirty="0"/>
              <a:t> </a:t>
            </a:r>
            <a:r>
              <a:rPr dirty="0"/>
              <a:t>system</a:t>
            </a:r>
            <a:r>
              <a:rPr spc="5" dirty="0"/>
              <a:t> </a:t>
            </a:r>
            <a:r>
              <a:rPr dirty="0"/>
              <a:t>therefore</a:t>
            </a:r>
            <a:r>
              <a:rPr spc="-30" dirty="0"/>
              <a:t> </a:t>
            </a:r>
            <a:r>
              <a:rPr spc="-10" dirty="0"/>
              <a:t>achieves </a:t>
            </a:r>
            <a:r>
              <a:rPr dirty="0"/>
              <a:t>compression</a:t>
            </a:r>
            <a:r>
              <a:rPr spc="-15" dirty="0"/>
              <a:t> </a:t>
            </a:r>
            <a:r>
              <a:rPr dirty="0"/>
              <a:t>closer</a:t>
            </a:r>
            <a:r>
              <a:rPr spc="-1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Shannon</a:t>
            </a:r>
            <a:r>
              <a:rPr spc="-25" dirty="0"/>
              <a:t> </a:t>
            </a:r>
            <a:r>
              <a:rPr spc="-10" dirty="0"/>
              <a:t>limit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515</Words>
  <Application>Microsoft Office PowerPoint</Application>
  <PresentationFormat>On-screen Show (16:9)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MT</vt:lpstr>
      <vt:lpstr>Times New Roman</vt:lpstr>
      <vt:lpstr>Trebuchet MS</vt:lpstr>
      <vt:lpstr>Office Theme</vt:lpstr>
      <vt:lpstr>Neural Text Compression: A Hybrid LSTM + Entropy Coding Framework</vt:lpstr>
      <vt:lpstr>GOAL</vt:lpstr>
      <vt:lpstr>Main Features</vt:lpstr>
      <vt:lpstr>Arcitecture Flow</vt:lpstr>
      <vt:lpstr>PowerPoint Presentation</vt:lpstr>
      <vt:lpstr>PowerPoint Presentation</vt:lpstr>
      <vt:lpstr>PowerPoint Presentation</vt:lpstr>
      <vt:lpstr>Neural (LSTM + Arithmetic)</vt:lpstr>
      <vt:lpstr>Result &amp;Analysis</vt:lpstr>
      <vt:lpstr>Result &amp;Analysis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KUMARAN MOHAN</dc:creator>
  <cp:lastModifiedBy>KUMARAN MOHAN</cp:lastModifiedBy>
  <cp:revision>1</cp:revision>
  <dcterms:created xsi:type="dcterms:W3CDTF">2025-11-14T13:36:10Z</dcterms:created>
  <dcterms:modified xsi:type="dcterms:W3CDTF">2025-11-14T13:42:53Z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2025-11-14T00:00:00Z</vt:filetime>
  </property>
  <property fmtid="{D5CDD505-2E9C-101B-9397-08002B2CF9AE}" pid="3" name="LastSaved">
    <vt:filetime>2025-11-14T00:00:00Z</vt:filetime>
  </property>
  <property fmtid="{D5CDD505-2E9C-101B-9397-08002B2CF9AE}" pid="4" name="Producer">
    <vt:lpwstr>iLovePDF</vt:lpwstr>
  </property>
</Properties>
</file>